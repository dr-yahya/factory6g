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377b4781ef47bb" /><Relationship Type="http://schemas.openxmlformats.org/officeDocument/2006/relationships/extended-properties" Target="/docProps/app.xml" Id="Rfcb613a9ebed400a" /><Relationship Type="http://schemas.openxmlformats.org/officeDocument/2006/relationships/officeDocument" Target="/ppt/presentation.xml" Id="Reda23826595c49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08615a2a184ba4"/>
  </p:sldMasterIdLst>
  <p:notesMasterIdLst>
    <p:notesMasterId xmlns:r="http://schemas.openxmlformats.org/officeDocument/2006/relationships" r:id="R99da09eb9aa2422f"/>
  </p:notesMasterIdLst>
  <p:sldIdLst>
    <p:sldId xmlns:r="http://schemas.openxmlformats.org/officeDocument/2006/relationships" id="256" r:id="Rc9e9b0dfb51b4ecb"/>
    <p:sldId xmlns:r="http://schemas.openxmlformats.org/officeDocument/2006/relationships" id="257" r:id="R0abd2c03fb8b468a"/>
    <p:sldId xmlns:r="http://schemas.openxmlformats.org/officeDocument/2006/relationships" id="258" r:id="Rb13f0204abee42c9"/>
    <p:sldId xmlns:r="http://schemas.openxmlformats.org/officeDocument/2006/relationships" id="259" r:id="R9a802386c39c4490"/>
    <p:sldId xmlns:r="http://schemas.openxmlformats.org/officeDocument/2006/relationships" id="260" r:id="R3616e943a71d40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8615a2a184ba4" /><Relationship Type="http://schemas.openxmlformats.org/officeDocument/2006/relationships/theme" Target="/ppt/theme/theme1.xml" Id="Rc20b7f8f8cba4795" /><Relationship Type="http://schemas.openxmlformats.org/officeDocument/2006/relationships/notesMaster" Target="/ppt/notesMasters/notesMaster1.xml" Id="R99da09eb9aa2422f" /><Relationship Type="http://schemas.openxmlformats.org/officeDocument/2006/relationships/presProps" Target="/ppt/presProps.xml" Id="Rde3bccfd84764c38" /><Relationship Type="http://schemas.openxmlformats.org/officeDocument/2006/relationships/viewProps" Target="/ppt/viewProps.xml" Id="R007fc2e68de44715" /><Relationship Type="http://schemas.openxmlformats.org/officeDocument/2006/relationships/tableStyles" Target="/ppt/tableStyles.xml" Id="Re16bd069d992447d" /><Relationship Type="http://schemas.openxmlformats.org/officeDocument/2006/relationships/slide" Target="/ppt/slides/slide1.xml" Id="Rc9e9b0dfb51b4ecb" /><Relationship Type="http://schemas.openxmlformats.org/officeDocument/2006/relationships/slide" Target="/ppt/slides/slide2.xml" Id="R0abd2c03fb8b468a" /><Relationship Type="http://schemas.openxmlformats.org/officeDocument/2006/relationships/slide" Target="/ppt/slides/slide3.xml" Id="Rb13f0204abee42c9" /><Relationship Type="http://schemas.openxmlformats.org/officeDocument/2006/relationships/slide" Target="/ppt/slides/slide4.xml" Id="R9a802386c39c4490" /><Relationship Type="http://schemas.openxmlformats.org/officeDocument/2006/relationships/slide" Target="/ppt/slides/slide5.xml" Id="R3616e943a71d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0b3f0e1b1e242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d0d17da3614076" /><Relationship Type="http://schemas.openxmlformats.org/officeDocument/2006/relationships/notesMaster" Target="/ppt/notesMasters/notesMaster1.xml" Id="R5bac070c11304b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b6be945fd948f2" /><Relationship Type="http://schemas.openxmlformats.org/officeDocument/2006/relationships/notesMaster" Target="/ppt/notesMasters/notesMaster1.xml" Id="R854be77f5b5e42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0f212838504b67" /><Relationship Type="http://schemas.openxmlformats.org/officeDocument/2006/relationships/notesMaster" Target="/ppt/notesMasters/notesMaster1.xml" Id="Rd457face71324f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69f0db499f4f38" /><Relationship Type="http://schemas.openxmlformats.org/officeDocument/2006/relationships/notesMaster" Target="/ppt/notesMasters/notesMaster1.xml" Id="R3e0a6d83497740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e7be876c49446a" /><Relationship Type="http://schemas.openxmlformats.org/officeDocument/2006/relationships/notesMaster" Target="/ppt/notesMasters/notesMaster1.xml" Id="R7cc1ab65c98f41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936f6aa4f421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7aaf09c12af4615" /><Relationship Type="http://schemas.openxmlformats.org/officeDocument/2006/relationships/slideLayout" Target="/ppt/slideLayouts/slideLayout2.xml" Id="Rc3afb955bea546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afb955bea546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6acd75a9a4b85" /><Relationship Type="http://schemas.openxmlformats.org/officeDocument/2006/relationships/notesSlide" Target="/ppt/notesSlides/notesSlide1.xml" Id="Rcc06f7ca47d74e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d5bc0608b84e28" /><Relationship Type="http://schemas.openxmlformats.org/officeDocument/2006/relationships/image" Target="/ppt/media/image.png" Id="R4d186fc55c4d4cdb" /><Relationship Type="http://schemas.openxmlformats.org/officeDocument/2006/relationships/notesSlide" Target="/ppt/notesSlides/notesSlide2.xml" Id="R804d5c28497a44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dcc68e53a74ae6" /><Relationship Type="http://schemas.openxmlformats.org/officeDocument/2006/relationships/image" Target="/ppt/media/image2.png" Id="R1f67ad669ea849be" /><Relationship Type="http://schemas.openxmlformats.org/officeDocument/2006/relationships/notesSlide" Target="/ppt/notesSlides/notesSlide3.xml" Id="Rc5c5c9f1f65548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48791cf61e4510" /><Relationship Type="http://schemas.openxmlformats.org/officeDocument/2006/relationships/image" Target="/ppt/media/image3.png" Id="R420097faaf0c46ba" /><Relationship Type="http://schemas.openxmlformats.org/officeDocument/2006/relationships/image" Target="/ppt/media/image4.png" Id="Rad08d6315aad419a" /><Relationship Type="http://schemas.openxmlformats.org/officeDocument/2006/relationships/notesSlide" Target="/ppt/notesSlides/notesSlide4.xml" Id="R553bda05c87547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530c68932a4410" /><Relationship Type="http://schemas.openxmlformats.org/officeDocument/2006/relationships/notesSlide" Target="/ppt/notesSlides/notesSlide5.xml" Id="R3acbab0c1a4946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F02A8-780B-48DB-A5F2-87DA5129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AA85B-7723-4304-9AD8-E7EFB58B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AE084-981A-40F1-AF5C-2B4F57D8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Factory6G weekly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BC443-4C3D-4284-AD60-14154A46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Retrained Neural estimator now beats LS on Rayleigh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7206A-9E40-4EC6-9E53-51133B43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April evidence corrects the March neural conclusion and keeps TR 38.901 as the next target.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B2F5A-58E1-4A36-8596-5D3ADFC9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2026-04-20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34F7B-6CF6-41A0-954F-E78424CA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D1B55-8B5E-438C-9E56-194AEE8F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8E496-1F9C-43F9-B89A-214E3931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7D32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E7D32"/>
                </a:solidFill>
                <a:latin typeface="Aptos Display"/>
                <a:ea typeface="Aptos Display"/>
                <a:cs typeface="Aptos Display"/>
              </a:rPr>
              <a:t>160x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44040-61E7-4B93-A938-52B0EC92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QPSK BER reduction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28E67-CC15-40EE-9FD9-0BC1B9B5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Neural vs LS at 0 dB on Rayleigh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47BA2-3919-4FE4-9433-7F794C94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4F641-4EA0-4F9A-8E1C-933AF7A2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0B2FC-5155-4BE7-A7DA-ECC7C179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86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7C7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7C75"/>
                </a:solidFill>
                <a:latin typeface="Aptos Display"/>
                <a:ea typeface="Aptos Display"/>
                <a:cs typeface="Aptos Display"/>
              </a:rPr>
              <a:t>2 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8FF88-E805-43C2-B4D1-76666B90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earlier zero BER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B8368-CF69-4452-8153-20AF447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across QPSK, 16-QAM, and 64-QAM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F3DFD-F457-45EB-87CB-1366291C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33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328CF-95FB-4618-AB5A-0F93D2C9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336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5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3A29C-A014-47B8-879B-190FCB61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55A6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55A6"/>
                </a:solidFill>
                <a:latin typeface="Aptos Display"/>
                <a:ea typeface="Aptos Display"/>
                <a:cs typeface="Aptos Display"/>
              </a:rPr>
              <a:t>0.3%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54AA4-187F-4471-A6B2-61B5AB33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latency difference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2156B-58C7-4EE9-8475-2BC0138A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effectively no per-batch overhead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1D6F6-2F57-4CDE-9910-12A2CAB0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25D6A-ACB9-441A-9027-FDB702F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8CEBB-F6DF-4DAE-82C0-F70374BF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B7791F"/>
                </a:solidFill>
                <a:latin typeface="Aptos Display"/>
                <a:ea typeface="Aptos Display"/>
                <a:cs typeface="Aptos Display"/>
              </a:rPr>
              <a:t>3-5e-5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1BBBD-88CA-4C15-81CA-7D9B751D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 38.901 tier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27736-E493-4537-85D1-8F13E100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Adaptive, PSO, and DFT BER floor range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6DAFAB-A2BD-4551-B041-8C6F68C5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064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CE52DD-A42F-40CD-BF96-75C19D11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Updated finding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C9E5F-9AC6-4B99-B50B-50F19D3F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708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Neural is now useful on Rayleigh after retraining. The unresolved question is whether the same learning benefit transfers to realistic TR 38.901 UMi.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AFD71-DA58-4121-B7B8-CD717F10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124C6-01E8-4AE1-B603-040BB0CD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F92643-3B5F-4C16-95B3-7B93BD43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06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Evidence source: reports/simulation_report_v2.md generated 2026-04-20 plus reports/plots neural figures.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5B460B-7DCA-4062-8647-2CC95FE6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B984B7-A366-4E9F-A55F-4D71EF5F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April simulation report converted into weekly evidence format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D53F13-272B-4280-9E6B-062E8601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20017300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D5081-8CE2-4F4F-AD47-A904389E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F59CC-819A-466A-B3C4-1FFD3B27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48455-DAB1-4FF6-A440-53DD62E9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Neural-vs-LS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45CA5-9382-4416-9A45-1A0BA815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Retraining turns Neural from an LS copy into a useful Rayleigh estimator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762BD-DDF6-4E5F-98AB-3D9719FB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The strongest April evidence is the modulation sweep plus latency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6E1F4-749A-4DB2-82E1-92372936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2026-04-20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F550C-7CCD-4798-B26D-6864497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85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18B2D-632B-4D9A-9E7A-F3E43193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5151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Neural vs LS across modulation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86fc55c4d4cdb"/>
          <a:stretch xmlns:a="http://schemas.openxmlformats.org/drawingml/2006/main"/>
        </p:blipFill>
        <p:spPr>
          <a:xfrm xmlns:a="http://schemas.openxmlformats.org/drawingml/2006/main">
            <a:off x="742950" y="2616887"/>
            <a:ext cx="6515100" cy="187187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605BC-98A4-428C-9DEA-7723F87C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Neural reaches zero BER earlier than LS across QPSK, 16-QAM, and 64-QAM.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35339-5F75-46AC-A41B-B4334A86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0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EDADC-C1D5-4FDD-8FF5-289B1514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Up to 160x lower BER at QPSK 0 dB.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485A7-11BC-41F4-8150-CA408013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47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A3415-23F1-46D7-9066-5CADF11E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Zero BER about 2 dB earlier than 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5233F-DD03-4FD0-94B8-735D02C6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75D9B-07B5-4A4C-829A-A534093F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No meaningful per-batch latency overhead.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95790-7200-4F5E-A3DB-16728E5C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B878A-0430-4880-BE9D-6F273A64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Result is Rayleigh-specific; TR 38.901 training is still required.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2F166-ED27-4E64-8DBA-97389B58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DCA1F-FD5B-419F-B992-BCDEBC63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D6BAB-4F91-421B-B876-BF41FA20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Decision: keep Neural in the pipeline, but move the next training run to realistic TR 38.901 UMi.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0D78E-9002-4E3B-8996-BB695C71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94EE1-F5C1-4DDF-AFD5-2A79CD23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Plot: reports/plots/neural_vs_ls_modulation_ber.png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8559A-0B7B-40AB-8756-6C0CB020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20431927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15058D-D580-44EB-A384-E1B6CFF0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AFC02-7794-42E7-BEBF-BDC92B6A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20ABD-C757-49B4-B67A-467136AE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TR 38.901 estimator tier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019DF-B305-46AC-9F2E-3C20FEF2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Adaptive, DFT, and PSO remain the strongest classical realistic-channel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84D09-A15A-44B6-A004-33437C7B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The April update corrects DFT by comparing it on the small-factory setup.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55D0F-A2CE-4891-91E7-2D9DADAC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2026-04-20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84C6C-568A-4294-B107-EB6318B2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457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A5364-C9F2-460E-9F53-0FA95FE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4114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Estimator BER evidence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7ad669ea849be"/>
          <a:stretch xmlns:a="http://schemas.openxmlformats.org/drawingml/2006/main"/>
        </p:blipFill>
        <p:spPr>
          <a:xfrm xmlns:a="http://schemas.openxmlformats.org/drawingml/2006/main">
            <a:off x="753555" y="2390775"/>
            <a:ext cx="401739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7E125-42C8-464E-95F2-DC8808B9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11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TR 38.901 keeps LS near 3 x 10^-4 while the top tier approaches 3-5 x 10^-5.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419B2-E103-4160-8CD3-40CB958A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0980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EA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D39E8-6537-4571-B380-B5310EC9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24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CAB01-E9B7-4650-A8E9-4856EACB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BER floor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27B1E-A181-4DB5-84EC-6CCFAE44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38BD9-C854-451C-A168-9B71A28B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2410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ABE73-2933-4EA3-B5BF-B601765E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609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5C520-F3A8-4AF7-91D6-7B41E62E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241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Adaptive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1F2C1-4E91-4F76-B69E-D2DF7F8A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3-5 x 10^-5 tier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BE24C-66D8-480A-B1C5-47D4FB19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Practical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2B1C6-679D-4ED8-8DED-1866B647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Primary classical comparator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CCBAD-9850-4427-BEA9-4EE6EC55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81350"/>
            <a:ext cx="609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1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1A281-CF61-455D-BCF9-7D9D2592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3BB1F-1100-4868-9E82-592EB225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3-5 x 10^-5 tier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D815C-83B0-4885-8D54-054EADCA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6.3x slower than 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2FA93-A7F5-42BA-A232-15B66A56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956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Fair after small-factory rerun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A580B-876C-4D7E-92D4-6C8F046D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609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B4740-3389-4AA6-A3DC-FD22ABCD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671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PSO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FF281C-91F8-4B2C-B6A7-ABC98690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3-5 x 10^-5 tier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0B66C-93AF-4370-BD17-4C627D5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Very high 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0AE10F-B87A-4677-9654-B71DA497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671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Research reference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9E968E-B067-4A3E-84EC-10660D91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24350"/>
            <a:ext cx="609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1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C83B80-93C3-4713-AD18-BD1461A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98CA6-0567-42BC-A6B3-E8F9AAAA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around 3 x 10^-4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B15329-43F5-4667-A6DF-2AA4BD09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Fast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8FBB4F-B634-4178-A2EB-F2C2B49A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386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Baseline floor remains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AC9D7E-B7CC-44B3-A448-82E7C344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BA67C0-C727-48F5-A51D-5394C67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7A3C1D-9D89-47F7-9B09-0F953D02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Reading: Neural must beat this top classical tier on TR 38.901 before claiming realistic-channel improvement.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D7846-C6F5-4AE1-9EBE-32A8AE06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F3149C-A0E9-458D-BB2C-359D7E76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Estimator table distilled from simulation_report_v2.md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A16AE7-7EC5-49E7-8943-783A0DD3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8168139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2E433-A97C-44B3-B133-60CA8933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D26E1-1CD6-4CE7-ABB9-1918BA78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AF844-C677-4A5B-A421-EFCECF15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Unresolved system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24FAA-436E-42C9-B8A6-ED886D67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Large-factory BER and JIDD runtime remain the main blockers after the Neural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2B846-BE92-4657-9CD8-FBDED371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The April report keeps the earlier JIDD evidence and narrows the open engineering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16828-FD84-4038-95A8-81C61C9B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2026-04-20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4BB47-6EE4-435B-8918-4CCDE5A6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5143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ACAFC-A94F-4186-8C24-38EC44C8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800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Factory-size issue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097faaf0c46ba"/>
          <a:stretch xmlns:a="http://schemas.openxmlformats.org/drawingml/2006/main"/>
        </p:blipFill>
        <p:spPr>
          <a:xfrm xmlns:a="http://schemas.openxmlformats.org/drawingml/2006/main">
            <a:off x="1246149" y="2390775"/>
            <a:ext cx="3794202" cy="2428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9EBBF-86F7-4CEF-941A-DB61C48F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480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Large factory remains around BER 0.21 across SNR.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294BC-2ADD-4516-B8E7-32AB8DFE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5143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24C44-FA97-4174-8CC5-B3CAE97F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800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JIDD-SCMA evidence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8d6315aad419a"/>
          <a:stretch xmlns:a="http://schemas.openxmlformats.org/drawingml/2006/main"/>
        </p:blipFill>
        <p:spPr>
          <a:xfrm xmlns:a="http://schemas.openxmlformats.org/drawingml/2006/main">
            <a:off x="7151649" y="2390775"/>
            <a:ext cx="3794202" cy="2428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13D54-05B7-47D0-A59D-6CBA9344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05375"/>
            <a:ext cx="480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Corrected JIDD reaches zero BER above 9 dB, but computational cost is high.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F7E62-5BA5-499B-AAA5-533353D5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8B6A6-7CDE-4407-9D5E-6C7D3CB3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D267A-7263-43CE-9866-987AB334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Next comparison should test Neural, Adaptive, and DFT under identical TR 38.901 and factory-size settings.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26ABE-F540-4B98-894F-2F003DC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7EF0D-CC3C-4464-9E30-5DCB41F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Plots: factory_size_ber_vs_ebno.png and jidd_ber_comparison.png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8CE60-0542-4457-8123-EC80C186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16478910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2C8F34-1CC1-4893-A84B-C5752830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00281-AE34-4E82-B0BB-4AD1E2F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7F054-E0D4-41B9-93DC-3A04ECB7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Next research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EE418-6836-4244-B0C8-E04C757A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742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Move from Rayleigh learning proof to realistic-channel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90330-32D8-44F8-A8D2-B653B155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April evidence supports Neural, but the research claim still depends on TR 38.901.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82642-4707-49A8-A1B1-0570DF3C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2026-04-20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4FEFC-7F86-4FE0-ACAA-6735B36F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9EC2C-463E-44B8-90A5-6668E016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9B922-4BC0-4536-B881-FED8F872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Train and test Neural on TR 38.901 UMi to target the realistic-channel BER floor.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8BD15-94C7-46E2-8053-DFA1BC3A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7947D-74F4-477D-8210-94D95E1F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5F234-00D5-4E6B-96B2-8269C412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Compare Neural, Adaptive, and DFT with the same channel, factory size, and modulation.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0D108-EEE7-4A73-A161-E898751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3AB9C-A095-48E4-BBB0-7AA7E262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3.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BF5DD-6E8B-4159-BE9C-7D203510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9090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Expand training across Rayleigh, Rician, and TR 38.901 using curriculum-style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86070-ED14-465B-BD27-F83E0DAA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07428-B622-4756-86FE-5D640692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E128E-98E1-43E2-A30D-F0370A7E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Investigate large-factory reliability with scheduling, more antennas, or distributed MIMO.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E7D4B-B5F6-4C2D-9182-45636E9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50D0B-D087-42CC-9EAD-3B10DB58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7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C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C75"/>
                </a:solidFill>
                <a:latin typeface="Aptos"/>
                <a:ea typeface="Aptos"/>
                <a:cs typeface="Aptos"/>
              </a:rPr>
              <a:t>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507CA-42ED-40CB-A4D2-73368C20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388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Test Adaptive or Neural with higher-order modulation for high-throughput factory links.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7AB16-AC94-4EE7-9F52-A2DBBE7C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16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6"/>
          </a:solidFill>
          <a:ln xmlns:a="http://schemas.openxmlformats.org/drawingml/2006/main" w="9525">
            <a:solidFill>
              <a:srgbClr val="D7DD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044D9-0DF9-40FF-8CA6-D6BAE1ED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C211D-4FDB-4E82-9BD0-57E21697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44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Priority: prove realistic-channel Neural gain before extending the result family.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682B1-6B4D-47CC-AF13-51AB956D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2D5B0-9C8D-465A-AB63-33FCDFCE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A75"/>
                </a:solidFill>
                <a:latin typeface="Aptos"/>
                <a:ea typeface="Aptos"/>
                <a:cs typeface="Aptos"/>
              </a:rPr>
              <a:t>Weekly-style follow-up plan distilled from simulation_report_v2.md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5DB24-1FCB-4DA8-8962-1FD49D34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34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E6A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A75"/>
                </a:solidFill>
                <a:latin typeface="Aptos"/>
                <a:ea typeface="Aptos"/>
                <a:cs typeface="Aptos"/>
              </a:rPr>
              <a:t>Factory6G</a:t>
            </a:r>
          </a:p>
        </p:txBody>
      </p:sp>
    </p:spTree>
    <p:extLst>
      <p:ext uri="{BB962C8B-B14F-4D97-AF65-F5344CB8AC3E}">
        <p14:creationId xmlns:p14="http://schemas.microsoft.com/office/powerpoint/2010/main" val="1541726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2026-05-02T17:11:58.1900000Z</dcterms:created>
  <dcterms:modified xsi:type="dcterms:W3CDTF">2026-05-02T17:11:58.1900000Z</dcterms:modified>
</coreProperties>
</file>