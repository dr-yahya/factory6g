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230fd4d4eb4de3" /><Relationship Type="http://schemas.openxmlformats.org/officeDocument/2006/relationships/extended-properties" Target="/docProps/app.xml" Id="Raa5d5560ba4b4824" /><Relationship Type="http://schemas.openxmlformats.org/officeDocument/2006/relationships/officeDocument" Target="/ppt/presentation.xml" Id="R5e6f4b6baa2e45f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344a8e0ab7435d"/>
  </p:sldMasterIdLst>
  <p:notesMasterIdLst>
    <p:notesMasterId xmlns:r="http://schemas.openxmlformats.org/officeDocument/2006/relationships" r:id="Rd14ceb19ac494f97"/>
  </p:notesMasterIdLst>
  <p:sldIdLst>
    <p:sldId xmlns:r="http://schemas.openxmlformats.org/officeDocument/2006/relationships" id="256" r:id="R2ea73ac4eda74ced"/>
    <p:sldId xmlns:r="http://schemas.openxmlformats.org/officeDocument/2006/relationships" id="257" r:id="R9bfda039fa0a44c0"/>
    <p:sldId xmlns:r="http://schemas.openxmlformats.org/officeDocument/2006/relationships" id="258" r:id="Rf669a857d1a644f1"/>
    <p:sldId xmlns:r="http://schemas.openxmlformats.org/officeDocument/2006/relationships" id="259" r:id="R842c6db88bfe45ff"/>
    <p:sldId xmlns:r="http://schemas.openxmlformats.org/officeDocument/2006/relationships" id="260" r:id="Rdfd049a401b245d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344a8e0ab7435d" /><Relationship Type="http://schemas.openxmlformats.org/officeDocument/2006/relationships/theme" Target="/ppt/theme/theme1.xml" Id="R010c3630aa0b4c91" /><Relationship Type="http://schemas.openxmlformats.org/officeDocument/2006/relationships/notesMaster" Target="/ppt/notesMasters/notesMaster1.xml" Id="Rd14ceb19ac494f97" /><Relationship Type="http://schemas.openxmlformats.org/officeDocument/2006/relationships/presProps" Target="/ppt/presProps.xml" Id="Ra47b30764b2d4340" /><Relationship Type="http://schemas.openxmlformats.org/officeDocument/2006/relationships/viewProps" Target="/ppt/viewProps.xml" Id="Rebcc08bdf62a4888" /><Relationship Type="http://schemas.openxmlformats.org/officeDocument/2006/relationships/tableStyles" Target="/ppt/tableStyles.xml" Id="R05c2076135e84ab6" /><Relationship Type="http://schemas.openxmlformats.org/officeDocument/2006/relationships/slide" Target="/ppt/slides/slide1.xml" Id="R2ea73ac4eda74ced" /><Relationship Type="http://schemas.openxmlformats.org/officeDocument/2006/relationships/slide" Target="/ppt/slides/slide2.xml" Id="R9bfda039fa0a44c0" /><Relationship Type="http://schemas.openxmlformats.org/officeDocument/2006/relationships/slide" Target="/ppt/slides/slide3.xml" Id="Rf669a857d1a644f1" /><Relationship Type="http://schemas.openxmlformats.org/officeDocument/2006/relationships/slide" Target="/ppt/slides/slide4.xml" Id="R842c6db88bfe45ff" /><Relationship Type="http://schemas.openxmlformats.org/officeDocument/2006/relationships/slide" Target="/ppt/slides/slide5.xml" Id="Rdfd049a401b245d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1fa0d44b5b54b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5bbbd32adc24030" /><Relationship Type="http://schemas.openxmlformats.org/officeDocument/2006/relationships/notesMaster" Target="/ppt/notesMasters/notesMaster1.xml" Id="R285b34b9d98d4f6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b66cab3b08b495c" /><Relationship Type="http://schemas.openxmlformats.org/officeDocument/2006/relationships/notesMaster" Target="/ppt/notesMasters/notesMaster1.xml" Id="R8a0145d5503e414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1ab268dbdbe44fa" /><Relationship Type="http://schemas.openxmlformats.org/officeDocument/2006/relationships/notesMaster" Target="/ppt/notesMasters/notesMaster1.xml" Id="Rad4768749a33415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21f8ef9ac944e6b" /><Relationship Type="http://schemas.openxmlformats.org/officeDocument/2006/relationships/notesMaster" Target="/ppt/notesMasters/notesMaster1.xml" Id="Rb294b55bc8c644a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79d039653b547b1" /><Relationship Type="http://schemas.openxmlformats.org/officeDocument/2006/relationships/notesMaster" Target="/ppt/notesMasters/notesMaster1.xml" Id="R172449880d2a4c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ff47a78f79414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9c93bd427144d9d" /><Relationship Type="http://schemas.openxmlformats.org/officeDocument/2006/relationships/slideLayout" Target="/ppt/slideLayouts/slideLayout2.xml" Id="R84bba641070543d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4bba641070543d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4f5c18a38f445e8" /><Relationship Type="http://schemas.openxmlformats.org/officeDocument/2006/relationships/notesSlide" Target="/ppt/notesSlides/notesSlide1.xml" Id="Rbb1443a3be294f1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bae24939e784bf5" /><Relationship Type="http://schemas.openxmlformats.org/officeDocument/2006/relationships/image" Target="/ppt/media/image.png" Id="R15e822992d5e44f0" /><Relationship Type="http://schemas.openxmlformats.org/officeDocument/2006/relationships/notesSlide" Target="/ppt/notesSlides/notesSlide2.xml" Id="Ra698f11d1109409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f9a0705113b47f7" /><Relationship Type="http://schemas.openxmlformats.org/officeDocument/2006/relationships/image" Target="/ppt/media/image2.png" Id="R4fa72c6b877d48f2" /><Relationship Type="http://schemas.openxmlformats.org/officeDocument/2006/relationships/image" Target="/ppt/media/image3.png" Id="Rbf13b564d1f94ba1" /><Relationship Type="http://schemas.openxmlformats.org/officeDocument/2006/relationships/notesSlide" Target="/ppt/notesSlides/notesSlide3.xml" Id="Rea5b77397b04497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59fa6e620547aa" /><Relationship Type="http://schemas.openxmlformats.org/officeDocument/2006/relationships/image" Target="/ppt/media/image4.png" Id="R6ab17dfba99647df" /><Relationship Type="http://schemas.openxmlformats.org/officeDocument/2006/relationships/image" Target="/ppt/media/image5.png" Id="R299e698a56854983" /><Relationship Type="http://schemas.openxmlformats.org/officeDocument/2006/relationships/notesSlide" Target="/ppt/notesSlides/notesSlide4.xml" Id="Rf994c307bbba497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8dbd158b808470e" /><Relationship Type="http://schemas.openxmlformats.org/officeDocument/2006/relationships/notesSlide" Target="/ppt/notesSlides/notesSlide5.xml" Id="R3eaae264452e4a3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0CB63B-0854-4407-8C55-32FB00ACB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22DD01-59CE-43BF-A429-97928CDA8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C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38037A-AD55-4F0E-A7C1-BB9EF8448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7C7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7C75"/>
                </a:solidFill>
                <a:latin typeface="Aptos"/>
                <a:ea typeface="Aptos"/>
                <a:cs typeface="Aptos"/>
              </a:rPr>
              <a:t>Factory6G weekly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F65F8F-3FF4-4CA6-B478-A5DC865BB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7429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March PHY benchmark identifies the practical estimator path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DBBF9D-D3F9-405E-B9D2-910129DDF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7620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A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A75"/>
                </a:solidFill>
                <a:latin typeface="Aptos"/>
                <a:ea typeface="Aptos"/>
                <a:cs typeface="Aptos"/>
              </a:rPr>
              <a:t>Benchmark covered estimators, channels, modulation, factory scaling, and JIDD-SCMA reliability.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CD7039-4CB5-4AC3-B0A0-88DC96E58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619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2026-03-27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55120C-D714-4D9E-BC50-22A8CD21C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33600"/>
            <a:ext cx="247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273EA5-0635-4B06-A9B7-D5A356028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336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5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1CAE30-1281-42FA-87E5-F1E29C8B5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8600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55A6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2455A6"/>
                </a:solidFill>
                <a:latin typeface="Aptos Display"/>
                <a:ea typeface="Aptos Display"/>
                <a:cs typeface="Aptos Display"/>
              </a:rPr>
              <a:t>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3D45D9-F72C-41CE-99A9-95F4370AB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2114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estimators compared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7ADC1E-8DBC-4C7D-BECD-0815ADEA5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2114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A7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A75"/>
                </a:solidFill>
                <a:latin typeface="Aptos"/>
                <a:ea typeface="Aptos"/>
                <a:cs typeface="Aptos"/>
              </a:rPr>
              <a:t>LS, PSO, Adaptive, ISTA, Neural, DFT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7306B4-70C9-4600-9DD1-250B6A760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33600"/>
            <a:ext cx="247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802C6C-CF71-4AAD-B244-A08D8AFA6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336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C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C36582-9DDB-40A4-B882-0DA9355A6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28600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47C75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47C75"/>
                </a:solidFill>
                <a:latin typeface="Aptos Display"/>
                <a:ea typeface="Aptos Display"/>
                <a:cs typeface="Aptos Display"/>
              </a:rPr>
              <a:t>3-4e-5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214B81-AD42-4B4C-8903-1768258DF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47950"/>
            <a:ext cx="2114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best BER floor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F8D8E1-98CC-437E-BC4D-AED00C2DE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857500"/>
            <a:ext cx="2114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A7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A75"/>
                </a:solidFill>
                <a:latin typeface="Aptos"/>
                <a:ea typeface="Aptos"/>
                <a:cs typeface="Aptos"/>
              </a:rPr>
              <a:t>Adaptive and PSO on TR 38.901 UMi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32BF6B-CB32-48C0-B682-B3F1A949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33600"/>
            <a:ext cx="247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CB05BC-7944-4893-88BE-78B007A00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336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E2AEDE-E818-4FBA-9383-2078D2AB0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8600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B7791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B7791F"/>
                </a:solidFill>
                <a:latin typeface="Aptos Display"/>
                <a:ea typeface="Aptos Display"/>
                <a:cs typeface="Aptos Display"/>
              </a:rPr>
              <a:t>14x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F30432-4CB4-493A-9907-D23C15F07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47950"/>
            <a:ext cx="2114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PSO runtime penalty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928DAC-1193-4B60-B930-A4DF7C46E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57500"/>
            <a:ext cx="2114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A7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A75"/>
                </a:solidFill>
                <a:latin typeface="Aptos"/>
                <a:ea typeface="Aptos"/>
                <a:cs typeface="Aptos"/>
              </a:rPr>
              <a:t>Adaptive gives near-PSO BER with lower cost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9B8563-28D9-4F2D-AA6B-35C2C9BF0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33600"/>
            <a:ext cx="247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631F4B-3B81-4D71-8CEB-CA6B9B1CE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336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00B8D7-218C-4043-B99F-56E5D044E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28600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E7D32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2E7D32"/>
                </a:solidFill>
                <a:latin typeface="Aptos Display"/>
                <a:ea typeface="Aptos Display"/>
                <a:cs typeface="Aptos Display"/>
              </a:rPr>
              <a:t>0 BER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4C7C07-7592-414D-BD1F-A10984BD8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647950"/>
            <a:ext cx="2114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JIDD above 9 dB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97DC7F-44D9-4982-B3BF-2730CDF2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57500"/>
            <a:ext cx="2114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A7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A75"/>
                </a:solidFill>
                <a:latin typeface="Aptos"/>
                <a:ea typeface="Aptos"/>
                <a:cs typeface="Aptos"/>
              </a:rPr>
              <a:t>after fixing high-SNR numerical issue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77A9C5-3B68-48E4-B8A5-8DE893162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38550"/>
            <a:ext cx="106489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99AE5F-B6B4-45FD-8615-FA4452868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86200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Research reading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09D291-2ABA-46AB-9C83-C0B27B007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48100"/>
            <a:ext cx="7010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Adaptive is the strongest practical classical estimator for the current TR 38.901 UMi setup. PSO reaches similar reliability but is too expensive for repeated sweeps.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3D9375-7883-4FBD-A51A-C6BC992E4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95900"/>
            <a:ext cx="1116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6"/>
          </a:solidFill>
          <a:ln xmlns:a="http://schemas.openxmlformats.org/drawingml/2006/main" w="9525">
            <a:solidFill>
              <a:srgbClr val="D7DDD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62BD45-82E0-4A0B-AE39-594BDE163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95900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C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B999ED0-9273-4DD3-B879-CB3041C68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00675"/>
            <a:ext cx="1074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Evidence source: reports/simulation_report.md generated 2026-03-27 plus reports/plots benchmark figures.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54718CB-4B67-4D6C-8F40-549405B42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03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7F17C31-3BD4-485B-9244-72D45FCBA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762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A7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A75"/>
                </a:solidFill>
                <a:latin typeface="Aptos"/>
                <a:ea typeface="Aptos"/>
                <a:cs typeface="Aptos"/>
              </a:rPr>
              <a:t>March simulation report converted into weekly evidence format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4A54DAF-243C-4021-A4E7-AC938778C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53415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E6A7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E6A75"/>
                </a:solidFill>
                <a:latin typeface="Aptos"/>
                <a:ea typeface="Aptos"/>
                <a:cs typeface="Aptos"/>
              </a:rPr>
              <a:t>Factory6G</a:t>
            </a:r>
          </a:p>
        </p:txBody>
      </p:sp>
    </p:spTree>
    <p:extLst>
      <p:ext uri="{BB962C8B-B14F-4D97-AF65-F5344CB8AC3E}">
        <p14:creationId xmlns:p14="http://schemas.microsoft.com/office/powerpoint/2010/main" val="185222106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D9EDEA-D871-449B-90BE-ECA9F2F89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E9EEBA-39E3-4DC1-9705-74BE4A04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C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8F8BED-04D3-4100-A508-6C69F52E7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7C7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7C75"/>
                </a:solidFill>
                <a:latin typeface="Aptos"/>
                <a:ea typeface="Aptos"/>
                <a:cs typeface="Aptos"/>
              </a:rPr>
              <a:t>Estimator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5152F1-2C0C-4B2D-9283-47A359476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7429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Adaptive and PSO reduce the realistic-channel BER floor by about one order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9DC814-FBF3-48A3-813B-FF81115B7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7620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A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A75"/>
                </a:solidFill>
                <a:latin typeface="Aptos"/>
                <a:ea typeface="Aptos"/>
                <a:cs typeface="Aptos"/>
              </a:rPr>
              <a:t>The plot isolates estimator behavior under the same simulation harness.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BAF1B5-04B3-4EC6-B0D5-EE2CC1A1A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619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2026-03-27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963B82-DDEC-4191-9264-AFEF3B06F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6477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92A1F5-D2F6-4A72-B0D5-0F665701C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61341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Estimator BER vs Eb/No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e822992d5e44f0"/>
          <a:stretch xmlns:a="http://schemas.openxmlformats.org/drawingml/2006/main"/>
        </p:blipFill>
        <p:spPr>
          <a:xfrm xmlns:a="http://schemas.openxmlformats.org/drawingml/2006/main">
            <a:off x="1801305" y="2409825"/>
            <a:ext cx="4017390" cy="25717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68AE0F-3CFE-4F5A-B572-7242A48D9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67300"/>
            <a:ext cx="6134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A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A75"/>
                </a:solidFill>
                <a:latin typeface="Aptos"/>
                <a:ea typeface="Aptos"/>
                <a:cs typeface="Aptos"/>
              </a:rPr>
              <a:t>Adaptive and PSO sit below LS on the realistic TR 38.901 UMi channel.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3DB20E-488E-46BF-AB02-DD8121A84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193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C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3BACD9-3384-4306-9C53-A65D760EE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152650"/>
            <a:ext cx="342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Adaptive and PSO reach BER floors around 3-4 x 10^-5.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F69D0A-AD65-4B30-A051-2A81467E1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860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C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4E278F-3D13-4ADD-B5CD-445CB0729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819400"/>
            <a:ext cx="342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LS remains around 3 x 10^-4 on TR 38.901 UMi.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30B231-50D4-4A8E-A128-051E1B6E6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52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C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60CA0E-35C0-45E2-BBB2-C903D4AEF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486150"/>
            <a:ext cx="342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Neural still follows LS in the March report, so retraining is required.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82A318-C283-44AB-B71D-4A244B4D6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195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C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FCCB28-621E-4FFC-B16C-A2DE802DB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152900"/>
            <a:ext cx="342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Adaptive is the practical choice because PSO is much slower.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1764E4-64F6-457C-8687-3D4957B99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0"/>
            <a:ext cx="1116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6"/>
          </a:solidFill>
          <a:ln xmlns:a="http://schemas.openxmlformats.org/drawingml/2006/main" w="9525">
            <a:solidFill>
              <a:srgbClr val="D7DDD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20AE60-ADD2-4225-BCFC-2CB7EFA93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0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C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2CD86C-1090-486F-88BC-805937D9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9775"/>
            <a:ext cx="1074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Decision: keep Adaptive as the classical estimator baseline before retraining Neural.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B3DB70-B040-4B87-A4F5-32939AF26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03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1A5052-E4D8-4F6B-83FC-CE166266A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762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A7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A75"/>
                </a:solidFill>
                <a:latin typeface="Aptos"/>
                <a:ea typeface="Aptos"/>
                <a:cs typeface="Aptos"/>
              </a:rPr>
              <a:t>Estimator evidence from reports/plots/estimator_ber_vs_ebno.png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E33C62-6EB2-4D16-B376-1CEE54C46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53415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E6A7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E6A75"/>
                </a:solidFill>
                <a:latin typeface="Aptos"/>
                <a:ea typeface="Aptos"/>
                <a:cs typeface="Aptos"/>
              </a:rPr>
              <a:t>Factory6G</a:t>
            </a:r>
          </a:p>
        </p:txBody>
      </p:sp>
    </p:spTree>
    <p:extLst>
      <p:ext uri="{BB962C8B-B14F-4D97-AF65-F5344CB8AC3E}">
        <p14:creationId xmlns:p14="http://schemas.microsoft.com/office/powerpoint/2010/main" val="201129425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E367A6-5D1B-4706-B8B6-709309B75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622EEC-E2FD-4F6A-949F-838601141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C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D9196C-EBE7-4430-983D-BBA8C9462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7C7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7C75"/>
                </a:solidFill>
                <a:latin typeface="Aptos"/>
                <a:ea typeface="Aptos"/>
                <a:cs typeface="Aptos"/>
              </a:rPr>
              <a:t>Channel and modulation stress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C1C7A9-9EBE-4FF1-90E3-B77F2738E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7429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TR 38.901 UMi and 64-QAM expose the current reliability limits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D3318C-4552-4D28-86C2-3344C3146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7620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A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A75"/>
                </a:solidFill>
                <a:latin typeface="Aptos"/>
                <a:ea typeface="Aptos"/>
                <a:cs typeface="Aptos"/>
              </a:rPr>
              <a:t>The March benchmark separates channel-model difficulty from modulation sensitivity.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EEC6D7-8235-4333-A588-CB6F0AB9E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619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2026-03-27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68E9CD-010A-4E59-87EB-A42B7BA44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62150"/>
            <a:ext cx="51911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7950FB-D15B-4C52-B560-AF79FCBFA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484822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Channel-model impact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a72c6b877d48f2"/>
          <a:stretch xmlns:a="http://schemas.openxmlformats.org/drawingml/2006/main"/>
        </p:blipFill>
        <p:spPr>
          <a:xfrm xmlns:a="http://schemas.openxmlformats.org/drawingml/2006/main">
            <a:off x="1158368" y="2371725"/>
            <a:ext cx="4017390" cy="25717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4850BA-2D61-472C-83BB-FF1A899B1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48482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A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A75"/>
                </a:solidFill>
                <a:latin typeface="Aptos"/>
                <a:ea typeface="Aptos"/>
                <a:cs typeface="Aptos"/>
              </a:rPr>
              <a:t>Rayleigh and Rician reach zero BER at high SNR; TR 38.901 UMi keeps a BER floor.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76894F-926A-432D-BDEF-34B797215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962150"/>
            <a:ext cx="51911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5C95A4-C6FC-442E-8401-BE24290CA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076450"/>
            <a:ext cx="484822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Modulation impact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13b564d1f94ba1"/>
          <a:stretch xmlns:a="http://schemas.openxmlformats.org/drawingml/2006/main"/>
        </p:blipFill>
        <p:spPr>
          <a:xfrm xmlns:a="http://schemas.openxmlformats.org/drawingml/2006/main">
            <a:off x="7016243" y="2371725"/>
            <a:ext cx="4017390" cy="25717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3FFC1A-6864-44CA-9BFB-1AD9C903D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5029200"/>
            <a:ext cx="48482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A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A75"/>
                </a:solidFill>
                <a:latin typeface="Aptos"/>
                <a:ea typeface="Aptos"/>
                <a:cs typeface="Aptos"/>
              </a:rPr>
              <a:t>64-QAM is not reliable with the current LS-based setup; QPSK is the stable baseline.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5AE770-FA10-4AE4-B398-AF754DDB4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0"/>
            <a:ext cx="1116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6"/>
          </a:solidFill>
          <a:ln xmlns:a="http://schemas.openxmlformats.org/drawingml/2006/main" w="9525">
            <a:solidFill>
              <a:srgbClr val="D7DDD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232902-919C-49F1-9368-53A5CEF11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0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1F853F-BA2B-4900-A6E4-984CBFE6F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9775"/>
            <a:ext cx="1074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Reading: LDPC coding is not the only bottleneck; channel estimation and channel realism drive the floor.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4BEF29-A9F5-4787-A1C4-99EEB6D2E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03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BC550C-C5F3-4B1B-920E-07C9DB73C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762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A7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A75"/>
                </a:solidFill>
                <a:latin typeface="Aptos"/>
                <a:ea typeface="Aptos"/>
                <a:cs typeface="Aptos"/>
              </a:rPr>
              <a:t>Plots: channel_model_ber_vs_ebno.png and modulation_ber_vs_ebno.png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9D28D5-2369-4754-B87A-FDC6F6EE2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53415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E6A7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E6A75"/>
                </a:solidFill>
                <a:latin typeface="Aptos"/>
                <a:ea typeface="Aptos"/>
                <a:cs typeface="Aptos"/>
              </a:rPr>
              <a:t>Factory6G</a:t>
            </a:r>
          </a:p>
        </p:txBody>
      </p:sp>
    </p:spTree>
    <p:extLst>
      <p:ext uri="{BB962C8B-B14F-4D97-AF65-F5344CB8AC3E}">
        <p14:creationId xmlns:p14="http://schemas.microsoft.com/office/powerpoint/2010/main" val="23257092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19CA3C-2F6A-45F7-A0BD-637ADC0D3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302515-C7BE-4881-9A44-BE1DD146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C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2CC99C-50D0-4EF3-9B68-772DC642F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7C7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7C75"/>
                </a:solidFill>
                <a:latin typeface="Aptos"/>
                <a:ea typeface="Aptos"/>
                <a:cs typeface="Aptos"/>
              </a:rPr>
              <a:t>Factory scaling and JIDD-SCMA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B01FF0-2F5C-49D1-9329-BC847166D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7429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The system has one reliability fix completed and one architecture issue still open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70BC85-B322-488F-9B91-E665A2ADE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7620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A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A75"/>
                </a:solidFill>
                <a:latin typeface="Aptos"/>
                <a:ea typeface="Aptos"/>
                <a:cs typeface="Aptos"/>
              </a:rPr>
              <a:t>JIDD-SCMA improved after the numerical fix, while large-factory BER remains high.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C46164-CB61-43F0-918F-F524E1CB5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619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2026-03-27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F6C0A2-3EF1-4F71-9D4E-4E2E2911F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62150"/>
            <a:ext cx="51435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894406-2B9A-4802-BAB0-D988B9B17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48006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Factory-size scaling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b17dfba99647df"/>
          <a:stretch xmlns:a="http://schemas.openxmlformats.org/drawingml/2006/main"/>
        </p:blipFill>
        <p:spPr>
          <a:xfrm xmlns:a="http://schemas.openxmlformats.org/drawingml/2006/main">
            <a:off x="1208951" y="2371725"/>
            <a:ext cx="3868598" cy="24765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94FB52-708A-4AFB-857F-1C391C2FA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33950"/>
            <a:ext cx="4800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A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A75"/>
                </a:solidFill>
                <a:latin typeface="Aptos"/>
                <a:ea typeface="Aptos"/>
                <a:cs typeface="Aptos"/>
              </a:rPr>
              <a:t>Large factory remains around BER 0.21, which suggests an architecture-level limitation.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5DA971-82DB-4D4D-AE76-0BCDF2DF7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62150"/>
            <a:ext cx="51435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72CDF4-5FFD-405A-8D84-912F8DC3E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76450"/>
            <a:ext cx="48006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JIDD-SCMA corrected run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9e698a56854983"/>
          <a:stretch xmlns:a="http://schemas.openxmlformats.org/drawingml/2006/main"/>
        </p:blipFill>
        <p:spPr>
          <a:xfrm xmlns:a="http://schemas.openxmlformats.org/drawingml/2006/main">
            <a:off x="7114451" y="2371725"/>
            <a:ext cx="3868598" cy="24765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F4485F-A777-4A80-89B4-2E9F48A8E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933950"/>
            <a:ext cx="4800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A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A75"/>
                </a:solidFill>
                <a:latin typeface="Aptos"/>
                <a:ea typeface="Aptos"/>
                <a:cs typeface="Aptos"/>
              </a:rPr>
              <a:t>Corrected JIDD-SCMA reaches zero BER above 9 dB after the high-SNR fix.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1B3C06-5343-49F6-87F6-B7F21AE42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0"/>
            <a:ext cx="1116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6"/>
          </a:solidFill>
          <a:ln xmlns:a="http://schemas.openxmlformats.org/drawingml/2006/main" w="9525">
            <a:solidFill>
              <a:srgbClr val="D7DDD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46968D-6EDA-4B94-96A9-8341ECEAC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0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3B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624D5A-DD15-4B3B-840B-1540F6FA2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9775"/>
            <a:ext cx="1074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Large factory needs scheduling, more antennas, or distributed MIMO; JIDD is ready for stronger-estimator tests.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810C48-4761-46CC-B81B-1762A2254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03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5F8649-5A51-4C1C-903F-E5C6BE0EE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762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A7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A75"/>
                </a:solidFill>
                <a:latin typeface="Aptos"/>
                <a:ea typeface="Aptos"/>
                <a:cs typeface="Aptos"/>
              </a:rPr>
              <a:t>Plots: factory_size_ber_vs_ebno.png and jidd_ber_comparison.png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8CDF45-E162-44C4-BFB1-B91DC4131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53415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E6A7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E6A75"/>
                </a:solidFill>
                <a:latin typeface="Aptos"/>
                <a:ea typeface="Aptos"/>
                <a:cs typeface="Aptos"/>
              </a:rPr>
              <a:t>Factory6G</a:t>
            </a:r>
          </a:p>
        </p:txBody>
      </p:sp>
    </p:spTree>
    <p:extLst>
      <p:ext uri="{BB962C8B-B14F-4D97-AF65-F5344CB8AC3E}">
        <p14:creationId xmlns:p14="http://schemas.microsoft.com/office/powerpoint/2010/main" val="185488925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BCCDCA-8A8A-4E69-B372-0A522A0F1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372F32-64D2-4475-828D-7DF24F8B7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C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71BEF4-D3E7-46D0-8175-DED76A80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7C7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7C75"/>
                </a:solidFill>
                <a:latin typeface="Aptos"/>
                <a:ea typeface="Aptos"/>
                <a:cs typeface="Aptos"/>
              </a:rPr>
              <a:t>Next research plan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C0C6A7-B8D6-4E53-B00D-2026A3A2E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7429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Use the March benchmark to tighten estimator learning and resource allocation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F3E48E-116D-4DC4-BCBE-64DDAEA5A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7620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A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A75"/>
                </a:solidFill>
                <a:latin typeface="Aptos"/>
                <a:ea typeface="Aptos"/>
                <a:cs typeface="Aptos"/>
              </a:rPr>
              <a:t>The next run should keep Docker-only reproducibility and avoid full sweeps unless needed.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2454B6-7523-4EB8-82ED-D9EB0DE9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619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2026-03-27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269081-A7A7-4A0B-AE23-9C3B2841F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5010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E140E5-0FB2-4E50-BA17-FD4834F0E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476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7C7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7C75"/>
                </a:solidFill>
                <a:latin typeface="Aptos"/>
                <a:ea typeface="Aptos"/>
                <a:cs typeface="Aptos"/>
              </a:rPr>
              <a:t>1.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7E859C-9614-4932-9810-7980BA489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66950"/>
            <a:ext cx="388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Retrain or redesign the Neural estimator because March Neural behaves like LS.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D9B731-0744-4D8D-BFDB-F718E0449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14550"/>
            <a:ext cx="5010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F019C0-BA34-4511-B81A-400D7713E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47900"/>
            <a:ext cx="476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7C7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7C75"/>
                </a:solidFill>
                <a:latin typeface="Aptos"/>
                <a:ea typeface="Aptos"/>
                <a:cs typeface="Aptos"/>
              </a:rPr>
              <a:t>2.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831664-409C-47D8-94A1-958188FC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266950"/>
            <a:ext cx="388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Re-run DFT on the same small-factory setup for a fair classical comparison.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011D29-742F-44B6-BFF6-B96CE11FC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5010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AA94B3-2BC3-43CF-9B4B-EA9536AFF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71850"/>
            <a:ext cx="476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7C7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7C75"/>
                </a:solidFill>
                <a:latin typeface="Aptos"/>
                <a:ea typeface="Aptos"/>
                <a:cs typeface="Aptos"/>
              </a:rPr>
              <a:t>3.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6F19A8-B0C0-4935-A8AE-C0F3E641D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90900"/>
            <a:ext cx="388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Test Adaptive under 16-QAM and 64-QAM for higher-throughput factory links.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E98B2A-6194-4B9A-A470-A2DA0FF91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38500"/>
            <a:ext cx="5010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699EAB-30A8-4119-86F7-D6E0A4AD3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71850"/>
            <a:ext cx="476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7C7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7C75"/>
                </a:solidFill>
                <a:latin typeface="Aptos"/>
                <a:ea typeface="Aptos"/>
                <a:cs typeface="Aptos"/>
              </a:rPr>
              <a:t>4.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EE4D2B-F455-4324-93C8-611896535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390900"/>
            <a:ext cx="388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Investigate large-factory reliability with scheduling, extra antennas, or distributed MIMO.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66CA3D-1295-4945-AE75-E7FACE3B0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62450"/>
            <a:ext cx="5010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8839B0-86D3-4FEF-A6D1-3619733BD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476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7C7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7C75"/>
                </a:solidFill>
                <a:latin typeface="Aptos"/>
                <a:ea typeface="Aptos"/>
                <a:cs typeface="Aptos"/>
              </a:rPr>
              <a:t>5.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CB4EDA-AC42-447E-8A47-131F9AEE3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514850"/>
            <a:ext cx="388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Run fresh resource-manager benchmarks using the current Factory6G configuration.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E51B58-26E8-49F4-BA76-64BE89AAC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0"/>
            <a:ext cx="1116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6"/>
          </a:solidFill>
          <a:ln xmlns:a="http://schemas.openxmlformats.org/drawingml/2006/main" w="9525">
            <a:solidFill>
              <a:srgbClr val="D7DDD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9ECC49-00AD-47FB-95EF-C3F00A784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0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C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1222CB-69A2-49A2-8927-E0D0F4071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9775"/>
            <a:ext cx="1074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Priority: realistic-channel BER floor first, then high-throughput modulation and resource-manager benchmarking.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A1D0B5-0B6C-4529-9C3B-677B6478F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03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D7B5BE-768E-40F5-9172-8C9F43A98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762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A7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A75"/>
                </a:solidFill>
                <a:latin typeface="Aptos"/>
                <a:ea typeface="Aptos"/>
                <a:cs typeface="Aptos"/>
              </a:rPr>
              <a:t>Weekly-style follow-up plan distilled from simulation_report.md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BC109E-1E75-462F-8AC6-7ABC8202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53415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E6A7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E6A75"/>
                </a:solidFill>
                <a:latin typeface="Aptos"/>
                <a:ea typeface="Aptos"/>
                <a:cs typeface="Aptos"/>
              </a:rPr>
              <a:t>Factory6G</a:t>
            </a:r>
          </a:p>
        </p:txBody>
      </p:sp>
    </p:spTree>
    <p:extLst>
      <p:ext uri="{BB962C8B-B14F-4D97-AF65-F5344CB8AC3E}">
        <p14:creationId xmlns:p14="http://schemas.microsoft.com/office/powerpoint/2010/main" val="7245172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2026-05-02T17:11:58.1800000Z</dcterms:created>
  <dcterms:modified xsi:type="dcterms:W3CDTF">2026-05-02T17:11:58.1800000Z</dcterms:modified>
</coreProperties>
</file>