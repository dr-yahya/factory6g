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 type="wide"/>
  <p:notesSz cx="6858000" cy="9144000"/>
  <p:defaultTextStyle>
    <a:defPPr>
      <a:defRPr lang="en-US"/>
    </a:defPPr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3" name="Rect 3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31520" y="914400"/>
            <a:ext cx="9966960" cy="1280160"/>
          </a:xfrm>
          <a:prstGeom prst="rect">
            <a:avLst/>
          </a:prstGeom>
          <a:noFill/>
          <a:ln>
            <a:noFill/>
          </a:ln>
        </p:spPr>
        <p:txBody>
          <a:bodyPr wrap="square" lIns="110000" tIns="70000" rIns="110000" bIns="70000"/>
          <a:lstStyle/>
          <a:p>
            <a:pPr algn="l"/>
            <a:r>
              <a:rPr lang="en-US" sz="4550" b="1">
                <a:solidFill>
                  <a:srgbClr val="F8FAFC"/>
                </a:solidFill>
                <a:latin typeface="Aptos"/>
              </a:rPr>
              <a:t>Factory6G Weekly Progress Evidence</a:t>
            </a:r>
            <a:endParaRPr lang="en-US" sz="4550"/>
          </a:p>
        </p:txBody>
      </p:sp>
      <p:sp>
        <p:nvSpPr>
          <p:cNvPr id="5" name="TextBox 5"/>
          <p:cNvSpPr txBox="1"/>
          <p:nvPr/>
        </p:nvSpPr>
        <p:spPr>
          <a:xfrm>
            <a:off x="822960" y="2423160"/>
            <a:ext cx="9692640" cy="1097280"/>
          </a:xfrm>
          <a:prstGeom prst="rect">
            <a:avLst/>
          </a:prstGeom>
          <a:noFill/>
          <a:ln>
            <a:noFill/>
          </a:ln>
        </p:spPr>
        <p:txBody>
          <a:bodyPr wrap="square" lIns="110000" tIns="70000" rIns="110000" bIns="70000"/>
          <a:lstStyle/>
          <a:p>
            <a:pPr algn="l"/>
            <a:r>
              <a:rPr lang="en-US" sz="2200">
                <a:solidFill>
                  <a:srgbClr val="CBD5E1"/>
                </a:solidFill>
                <a:latin typeface="Aptos"/>
              </a:rPr>
              <a:t>Focus: AI-enabled resource allocation for smart-factory 6G networks</a:t>
            </a:r>
            <a:endParaRPr lang="en-US" sz="2200"/>
          </a:p>
          <a:p>
            <a:pPr algn="l"/>
            <a:r>
              <a:rPr lang="en-US" sz="2200">
                <a:solidFill>
                  <a:srgbClr val="CBD5E1"/>
                </a:solidFill>
                <a:latin typeface="Aptos"/>
              </a:rPr>
              <a:t>Reporting window: April 20-26, 2026 | Evidence finalized: April 27, 2026</a:t>
            </a:r>
            <a:endParaRPr lang="en-US" sz="2200"/>
          </a:p>
        </p:txBody>
      </p:sp>
      <p:sp>
        <p:nvSpPr>
          <p:cNvPr id="6" name="TextBox 6"/>
          <p:cNvSpPr txBox="1"/>
          <p:nvPr/>
        </p:nvSpPr>
        <p:spPr>
          <a:xfrm>
            <a:off x="822960" y="4023360"/>
            <a:ext cx="9875520" cy="1097280"/>
          </a:xfrm>
          <a:prstGeom prst="rect">
            <a:avLst/>
          </a:prstGeom>
          <a:noFill/>
          <a:ln>
            <a:noFill/>
          </a:ln>
        </p:spPr>
        <p:txBody>
          <a:bodyPr wrap="square" lIns="110000" tIns="70000" rIns="110000" bIns="70000"/>
          <a:lstStyle/>
          <a:p>
            <a:pPr algn="l"/>
            <a:r>
              <a:rPr lang="en-US" sz="1900">
                <a:solidFill>
                  <a:srgbClr val="E2E8F0"/>
                </a:solidFill>
                <a:latin typeface="Aptos"/>
              </a:rPr>
              <a:t>Completed proof: AI resource-manager reliability restored and Rayleigh benchmark completed</a:t>
            </a:r>
            <a:endParaRPr lang="en-US" sz="1900"/>
          </a:p>
          <a:p>
            <a:pPr algn="l"/>
            <a:r>
              <a:rPr lang="en-US" sz="1900">
                <a:solidFill>
                  <a:srgbClr val="E2E8F0"/>
                </a:solidFill>
                <a:latin typeface="Aptos"/>
              </a:rPr>
              <a:t>Next step: finish UMi benchmark and compare channel scenarios</a:t>
            </a:r>
            <a:endParaRPr lang="en-US" sz="19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02920" y="256032"/>
            <a:ext cx="7955279" cy="594360"/>
          </a:xfrm>
          <a:prstGeom prst="rect">
            <a:avLst/>
          </a:prstGeom>
          <a:noFill/>
          <a:ln>
            <a:noFill/>
          </a:ln>
        </p:spPr>
        <p:txBody>
          <a:bodyPr wrap="square" lIns="110000" tIns="70000" rIns="110000" bIns="70000"/>
          <a:lstStyle/>
          <a:p>
            <a:pPr algn="l"/>
            <a:r>
              <a:rPr lang="en-US" sz="3350" b="1">
                <a:solidFill>
                  <a:srgbClr val="0F172A"/>
                </a:solidFill>
                <a:latin typeface="Aptos"/>
              </a:rPr>
              <a:t>AI Resource-Manager Reliability Restored</a:t>
            </a:r>
            <a:endParaRPr lang="en-US" sz="3350"/>
          </a:p>
        </p:txBody>
      </p:sp>
      <p:sp>
        <p:nvSpPr>
          <p:cNvPr id="4" name="TextBox 4"/>
          <p:cNvSpPr txBox="1"/>
          <p:nvPr/>
        </p:nvSpPr>
        <p:spPr>
          <a:xfrm>
            <a:off x="8549640" y="320040"/>
            <a:ext cx="2834640" cy="411480"/>
          </a:xfrm>
          <a:prstGeom prst="rect">
            <a:avLst/>
          </a:prstGeom>
          <a:noFill/>
          <a:ln>
            <a:noFill/>
          </a:ln>
        </p:spPr>
        <p:txBody>
          <a:bodyPr wrap="square" lIns="110000" tIns="70000" rIns="110000" bIns="70000"/>
          <a:lstStyle/>
          <a:p>
            <a:pPr algn="l"/>
            <a:r>
              <a:rPr lang="en-US" sz="1300">
                <a:solidFill>
                  <a:srgbClr val="475569"/>
                </a:solidFill>
                <a:latin typeface="Aptos"/>
              </a:rPr>
              <a:t>Completed</a:t>
            </a:r>
            <a:endParaRPr lang="en-US" sz="1300"/>
          </a:p>
        </p:txBody>
      </p:sp>
      <p:sp>
        <p:nvSpPr>
          <p:cNvPr id="5" name="TextBox 5"/>
          <p:cNvSpPr txBox="1"/>
          <p:nvPr/>
        </p:nvSpPr>
        <p:spPr>
          <a:xfrm>
            <a:off x="594360" y="987552"/>
            <a:ext cx="4617720" cy="192024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110000" tIns="70000" rIns="110000" bIns="70000"/>
          <a:lstStyle/>
          <a:p>
            <a:pPr algn="l"/>
            <a:r>
              <a:rPr lang="en-US" sz="1950" b="1">
                <a:solidFill>
                  <a:srgbClr val="111827"/>
                </a:solidFill>
                <a:latin typeface="Aptos"/>
              </a:rPr>
              <a:t>Research value</a:t>
            </a:r>
            <a:endParaRPr lang="en-US" sz="1950"/>
          </a:p>
          <a:p>
            <a:pPr algn="l"/>
            <a:r>
              <a:rPr lang="en-US" sz="1500">
                <a:solidFill>
                  <a:srgbClr val="111827"/>
                </a:solidFill>
                <a:latin typeface="Aptos"/>
              </a:rPr>
              <a:t>The trained AI scheduler is now usable in the simulation workflow, so resource-allocation comparisons reflect the intended DRL behavior rather than a fallback strategy.</a:t>
            </a:r>
            <a:endParaRPr lang="en-US" sz="1500"/>
          </a:p>
        </p:txBody>
      </p:sp>
      <p:pic>
        <p:nvPicPr>
          <p:cNvPr id="6" name="ai_resource_manager_reli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988060"/>
            <a:ext cx="5989320" cy="4525264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594360" y="3703320"/>
            <a:ext cx="4617720" cy="1143000"/>
          </a:xfrm>
          <a:prstGeom prst="rect">
            <a:avLst/>
          </a:prstGeom>
          <a:solidFill>
            <a:srgbClr val="ECFDF5"/>
          </a:solidFill>
          <a:ln>
            <a:solidFill>
              <a:srgbClr val="99F6E4"/>
            </a:solidFill>
          </a:ln>
        </p:spPr>
        <p:txBody>
          <a:bodyPr wrap="square" lIns="110000" tIns="70000" rIns="110000" bIns="70000"/>
          <a:lstStyle/>
          <a:p>
            <a:pPr algn="l"/>
            <a:r>
              <a:rPr lang="en-US" sz="1950" b="1">
                <a:solidFill>
                  <a:srgbClr val="065F46"/>
                </a:solidFill>
                <a:latin typeface="Aptos"/>
              </a:rPr>
              <a:t>Proof outcome</a:t>
            </a:r>
            <a:endParaRPr lang="en-US" sz="1950"/>
          </a:p>
          <a:p>
            <a:pPr algn="l"/>
            <a:r>
              <a:rPr lang="en-US" sz="1500">
                <a:solidFill>
                  <a:srgbClr val="065F46"/>
                </a:solidFill>
                <a:latin typeface="Aptos"/>
              </a:rPr>
              <a:t>AI-based allocation is available for completed Rayleigh and future UMi benchmark analysis.</a:t>
            </a:r>
            <a:endParaRPr lang="en-US" sz="15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02920" y="256032"/>
            <a:ext cx="7955279" cy="594360"/>
          </a:xfrm>
          <a:prstGeom prst="rect">
            <a:avLst/>
          </a:prstGeom>
          <a:noFill/>
          <a:ln>
            <a:noFill/>
          </a:ln>
        </p:spPr>
        <p:txBody>
          <a:bodyPr wrap="square" lIns="110000" tIns="70000" rIns="110000" bIns="70000"/>
          <a:lstStyle/>
          <a:p>
            <a:pPr algn="l"/>
            <a:r>
              <a:rPr lang="en-US" sz="3350" b="1">
                <a:solidFill>
                  <a:srgbClr val="0F172A"/>
                </a:solidFill>
                <a:latin typeface="Aptos"/>
              </a:rPr>
              <a:t>Simulation Workflow Validated</a:t>
            </a:r>
            <a:endParaRPr lang="en-US" sz="3350"/>
          </a:p>
        </p:txBody>
      </p:sp>
      <p:sp>
        <p:nvSpPr>
          <p:cNvPr id="4" name="TextBox 4"/>
          <p:cNvSpPr txBox="1"/>
          <p:nvPr/>
        </p:nvSpPr>
        <p:spPr>
          <a:xfrm>
            <a:off x="8549640" y="320040"/>
            <a:ext cx="2834640" cy="411480"/>
          </a:xfrm>
          <a:prstGeom prst="rect">
            <a:avLst/>
          </a:prstGeom>
          <a:noFill/>
          <a:ln>
            <a:noFill/>
          </a:ln>
        </p:spPr>
        <p:txBody>
          <a:bodyPr wrap="square" lIns="110000" tIns="70000" rIns="110000" bIns="70000"/>
          <a:lstStyle/>
          <a:p>
            <a:pPr algn="l"/>
            <a:r>
              <a:rPr lang="en-US" sz="1300">
                <a:solidFill>
                  <a:srgbClr val="475569"/>
                </a:solidFill>
                <a:latin typeface="Aptos"/>
              </a:rPr>
              <a:t>Completed</a:t>
            </a:r>
            <a:endParaRPr lang="en-US" sz="1300"/>
          </a:p>
        </p:txBody>
      </p:sp>
      <p:pic>
        <p:nvPicPr>
          <p:cNvPr id="5" name="simulation_workflow_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074420"/>
            <a:ext cx="5760720" cy="4352544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6583680" y="1024128"/>
            <a:ext cx="4754880" cy="182880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110000" tIns="70000" rIns="110000" bIns="70000"/>
          <a:lstStyle/>
          <a:p>
            <a:pPr algn="l"/>
            <a:r>
              <a:rPr lang="en-US" sz="1950" b="1">
                <a:solidFill>
                  <a:srgbClr val="111827"/>
                </a:solidFill>
                <a:latin typeface="Aptos"/>
              </a:rPr>
              <a:t>Why it matters</a:t>
            </a:r>
            <a:endParaRPr lang="en-US" sz="1950"/>
          </a:p>
          <a:p>
            <a:pPr algn="l"/>
            <a:r>
              <a:rPr lang="en-US" sz="1500">
                <a:solidFill>
                  <a:srgbClr val="111827"/>
                </a:solidFill>
                <a:latin typeface="Aptos"/>
              </a:rPr>
              <a:t>The experiment workflow was validated in the same containerized environment used for Factory6G simulations. This supports reproducibility and confidence in the benchmark evidence.</a:t>
            </a:r>
            <a:endParaRPr lang="en-US" sz="1500"/>
          </a:p>
        </p:txBody>
      </p:sp>
      <p:sp>
        <p:nvSpPr>
          <p:cNvPr id="7" name="TextBox 7"/>
          <p:cNvSpPr txBox="1"/>
          <p:nvPr/>
        </p:nvSpPr>
        <p:spPr>
          <a:xfrm>
            <a:off x="6583680" y="3657600"/>
            <a:ext cx="4754880" cy="1143000"/>
          </a:xfrm>
          <a:prstGeom prst="rect">
            <a:avLst/>
          </a:prstGeom>
          <a:solidFill>
            <a:srgbClr val="ECFDF5"/>
          </a:solidFill>
          <a:ln>
            <a:solidFill>
              <a:srgbClr val="99F6E4"/>
            </a:solidFill>
          </a:ln>
        </p:spPr>
        <p:txBody>
          <a:bodyPr wrap="square" lIns="110000" tIns="70000" rIns="110000" bIns="70000"/>
          <a:lstStyle/>
          <a:p>
            <a:pPr algn="l"/>
            <a:r>
              <a:rPr lang="en-US" sz="2000" b="1">
                <a:solidFill>
                  <a:srgbClr val="065F46"/>
                </a:solidFill>
                <a:latin typeface="Aptos"/>
              </a:rPr>
              <a:t>Completion signal</a:t>
            </a:r>
            <a:endParaRPr lang="en-US" sz="2000"/>
          </a:p>
          <a:p>
            <a:pPr algn="l"/>
            <a:r>
              <a:rPr lang="en-US" sz="1550">
                <a:solidFill>
                  <a:srgbClr val="065F46"/>
                </a:solidFill>
                <a:latin typeface="Aptos"/>
              </a:rPr>
              <a:t>Trained AI policy available; targeted validation checks passed.</a:t>
            </a:r>
            <a:endParaRPr lang="en-US" sz="15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02920" y="256032"/>
            <a:ext cx="7955279" cy="594360"/>
          </a:xfrm>
          <a:prstGeom prst="rect">
            <a:avLst/>
          </a:prstGeom>
          <a:noFill/>
          <a:ln>
            <a:noFill/>
          </a:ln>
        </p:spPr>
        <p:txBody>
          <a:bodyPr wrap="square" lIns="110000" tIns="70000" rIns="110000" bIns="70000"/>
          <a:lstStyle/>
          <a:p>
            <a:pPr algn="l"/>
            <a:r>
              <a:rPr lang="en-US" sz="3350" b="1">
                <a:solidFill>
                  <a:srgbClr val="0F172A"/>
                </a:solidFill>
                <a:latin typeface="Aptos"/>
              </a:rPr>
              <a:t>Rayleigh Resource-Management Benchmark</a:t>
            </a:r>
            <a:endParaRPr lang="en-US" sz="3350"/>
          </a:p>
        </p:txBody>
      </p:sp>
      <p:sp>
        <p:nvSpPr>
          <p:cNvPr id="4" name="TextBox 4"/>
          <p:cNvSpPr txBox="1"/>
          <p:nvPr/>
        </p:nvSpPr>
        <p:spPr>
          <a:xfrm>
            <a:off x="8549640" y="320040"/>
            <a:ext cx="2834640" cy="411480"/>
          </a:xfrm>
          <a:prstGeom prst="rect">
            <a:avLst/>
          </a:prstGeom>
          <a:noFill/>
          <a:ln>
            <a:noFill/>
          </a:ln>
        </p:spPr>
        <p:txBody>
          <a:bodyPr wrap="square" lIns="110000" tIns="70000" rIns="110000" bIns="70000"/>
          <a:lstStyle/>
          <a:p>
            <a:pPr algn="l"/>
            <a:r>
              <a:rPr lang="en-US" sz="1300">
                <a:solidFill>
                  <a:srgbClr val="475569"/>
                </a:solidFill>
                <a:latin typeface="Aptos"/>
              </a:rPr>
              <a:t>Completed</a:t>
            </a:r>
            <a:endParaRPr lang="en-US" sz="1300"/>
          </a:p>
        </p:txBody>
      </p:sp>
      <p:pic>
        <p:nvPicPr>
          <p:cNvPr id="5" name="ber_vs_eb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87780"/>
            <a:ext cx="6629400" cy="44196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7360920" y="1051560"/>
            <a:ext cx="4160520" cy="201168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110000" tIns="70000" rIns="110000" bIns="70000"/>
          <a:lstStyle/>
          <a:p>
            <a:pPr algn="l"/>
            <a:r>
              <a:rPr lang="en-US" sz="1900" b="1">
                <a:solidFill>
                  <a:srgbClr val="111827"/>
                </a:solidFill>
                <a:latin typeface="Aptos"/>
              </a:rPr>
              <a:t>Scientific evidence</a:t>
            </a:r>
            <a:endParaRPr lang="en-US" sz="1900"/>
          </a:p>
          <a:p>
            <a:pPr algn="l"/>
            <a:r>
              <a:rPr lang="en-US" sz="1450">
                <a:solidFill>
                  <a:srgbClr val="111827"/>
                </a:solidFill>
                <a:latin typeface="Aptos"/>
              </a:rPr>
              <a:t>The BER curve shows how each resource-allocation method behaves as link quality improves. This is the main reliability view for the Rayleigh benchmark.</a:t>
            </a:r>
            <a:endParaRPr lang="en-US" sz="1450"/>
          </a:p>
        </p:txBody>
      </p:sp>
      <p:sp>
        <p:nvSpPr>
          <p:cNvPr id="7" name="TextBox 7"/>
          <p:cNvSpPr txBox="1"/>
          <p:nvPr/>
        </p:nvSpPr>
        <p:spPr>
          <a:xfrm>
            <a:off x="7360920" y="3703320"/>
            <a:ext cx="4160520" cy="1234440"/>
          </a:xfrm>
          <a:prstGeom prst="rect">
            <a:avLst/>
          </a:prstGeom>
          <a:solidFill>
            <a:srgbClr val="ECFDF5"/>
          </a:solidFill>
          <a:ln>
            <a:solidFill>
              <a:srgbClr val="99F6E4"/>
            </a:solidFill>
          </a:ln>
        </p:spPr>
        <p:txBody>
          <a:bodyPr wrap="square" lIns="110000" tIns="70000" rIns="110000" bIns="70000"/>
          <a:lstStyle/>
          <a:p>
            <a:pPr algn="l"/>
            <a:r>
              <a:rPr lang="en-US" sz="1900" b="1">
                <a:solidFill>
                  <a:srgbClr val="065F46"/>
                </a:solidFill>
                <a:latin typeface="Aptos"/>
              </a:rPr>
              <a:t>Completed run</a:t>
            </a:r>
            <a:endParaRPr lang="en-US" sz="1900"/>
          </a:p>
          <a:p>
            <a:pPr algn="l"/>
            <a:r>
              <a:rPr lang="en-US" sz="1450">
                <a:solidFill>
                  <a:srgbClr val="065F46"/>
                </a:solidFill>
                <a:latin typeface="Aptos"/>
              </a:rPr>
              <a:t>Rayleigh QPSK smart-factory scenario reached 2000/2000 batches and produced final graph outputs.</a:t>
            </a:r>
            <a:endParaRPr lang="en-US" sz="14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02920" y="256032"/>
            <a:ext cx="7955279" cy="594360"/>
          </a:xfrm>
          <a:prstGeom prst="rect">
            <a:avLst/>
          </a:prstGeom>
          <a:noFill/>
          <a:ln>
            <a:noFill/>
          </a:ln>
        </p:spPr>
        <p:txBody>
          <a:bodyPr wrap="square" lIns="110000" tIns="70000" rIns="110000" bIns="70000"/>
          <a:lstStyle/>
          <a:p>
            <a:pPr algn="l"/>
            <a:r>
              <a:rPr lang="en-US" sz="3350" b="1">
                <a:solidFill>
                  <a:srgbClr val="0F172A"/>
                </a:solidFill>
                <a:latin typeface="Aptos"/>
              </a:rPr>
              <a:t>Rayleigh Performance Evidence</a:t>
            </a:r>
            <a:endParaRPr lang="en-US" sz="3350"/>
          </a:p>
        </p:txBody>
      </p:sp>
      <p:sp>
        <p:nvSpPr>
          <p:cNvPr id="4" name="TextBox 4"/>
          <p:cNvSpPr txBox="1"/>
          <p:nvPr/>
        </p:nvSpPr>
        <p:spPr>
          <a:xfrm>
            <a:off x="8549640" y="320040"/>
            <a:ext cx="2834640" cy="411480"/>
          </a:xfrm>
          <a:prstGeom prst="rect">
            <a:avLst/>
          </a:prstGeom>
          <a:noFill/>
          <a:ln>
            <a:noFill/>
          </a:ln>
        </p:spPr>
        <p:txBody>
          <a:bodyPr wrap="square" lIns="110000" tIns="70000" rIns="110000" bIns="70000"/>
          <a:lstStyle/>
          <a:p>
            <a:pPr algn="l"/>
            <a:r>
              <a:rPr lang="en-US" sz="1300">
                <a:solidFill>
                  <a:srgbClr val="475569"/>
                </a:solidFill>
                <a:latin typeface="Aptos"/>
              </a:rPr>
              <a:t>Completed</a:t>
            </a:r>
            <a:endParaRPr lang="en-US" sz="1300"/>
          </a:p>
        </p:txBody>
      </p:sp>
      <p:pic>
        <p:nvPicPr>
          <p:cNvPr id="5" name="throughput_vs_eb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64920"/>
            <a:ext cx="5532120" cy="3688080"/>
          </a:xfrm>
          <a:prstGeom prst="rect">
            <a:avLst/>
          </a:prstGeom>
        </p:spPr>
      </p:pic>
      <p:pic>
        <p:nvPicPr>
          <p:cNvPr id="6" name="runtime_by_metho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356360"/>
            <a:ext cx="5257800" cy="35052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594360" y="5394960"/>
            <a:ext cx="53492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110000" tIns="70000" rIns="110000" bIns="70000"/>
          <a:lstStyle/>
          <a:p>
            <a:pPr algn="l"/>
            <a:r>
              <a:rPr lang="en-US" sz="1250">
                <a:solidFill>
                  <a:srgbClr val="334155"/>
                </a:solidFill>
                <a:latin typeface="Aptos"/>
              </a:rPr>
              <a:t>Throughput: service-capacity view across channel quality.</a:t>
            </a:r>
            <a:endParaRPr lang="en-US" sz="1250"/>
          </a:p>
        </p:txBody>
      </p:sp>
      <p:sp>
        <p:nvSpPr>
          <p:cNvPr id="8" name="TextBox 8"/>
          <p:cNvSpPr txBox="1"/>
          <p:nvPr/>
        </p:nvSpPr>
        <p:spPr>
          <a:xfrm>
            <a:off x="6355080" y="5394960"/>
            <a:ext cx="5074920" cy="56692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110000" tIns="70000" rIns="110000" bIns="70000"/>
          <a:lstStyle/>
          <a:p>
            <a:pPr algn="l"/>
            <a:r>
              <a:rPr lang="en-US" sz="1250">
                <a:solidFill>
                  <a:srgbClr val="334155"/>
                </a:solidFill>
                <a:latin typeface="Aptos"/>
              </a:rPr>
              <a:t>Runtime: computational cost view by resource-management method.</a:t>
            </a:r>
            <a:endParaRPr lang="en-US" sz="12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02920" y="256032"/>
            <a:ext cx="7955279" cy="594360"/>
          </a:xfrm>
          <a:prstGeom prst="rect">
            <a:avLst/>
          </a:prstGeom>
          <a:noFill/>
          <a:ln>
            <a:noFill/>
          </a:ln>
        </p:spPr>
        <p:txBody>
          <a:bodyPr wrap="square" lIns="110000" tIns="70000" rIns="110000" bIns="70000"/>
          <a:lstStyle/>
          <a:p>
            <a:pPr algn="l"/>
            <a:r>
              <a:rPr lang="en-US" sz="3350" b="1">
                <a:solidFill>
                  <a:srgbClr val="0F172A"/>
                </a:solidFill>
                <a:latin typeface="Aptos"/>
              </a:rPr>
              <a:t>UMi Benchmark Continuing</a:t>
            </a:r>
            <a:endParaRPr lang="en-US" sz="3350"/>
          </a:p>
        </p:txBody>
      </p:sp>
      <p:sp>
        <p:nvSpPr>
          <p:cNvPr id="4" name="TextBox 4"/>
          <p:cNvSpPr txBox="1"/>
          <p:nvPr/>
        </p:nvSpPr>
        <p:spPr>
          <a:xfrm>
            <a:off x="8549640" y="320040"/>
            <a:ext cx="2834640" cy="411480"/>
          </a:xfrm>
          <a:prstGeom prst="rect">
            <a:avLst/>
          </a:prstGeom>
          <a:noFill/>
          <a:ln>
            <a:noFill/>
          </a:ln>
        </p:spPr>
        <p:txBody>
          <a:bodyPr wrap="square" lIns="110000" tIns="70000" rIns="110000" bIns="70000"/>
          <a:lstStyle/>
          <a:p>
            <a:pPr algn="l"/>
            <a:r>
              <a:rPr lang="en-US" sz="1300">
                <a:solidFill>
                  <a:srgbClr val="475569"/>
                </a:solidFill>
                <a:latin typeface="Aptos"/>
              </a:rPr>
              <a:t>In progress</a:t>
            </a:r>
            <a:endParaRPr lang="en-US" sz="1300"/>
          </a:p>
        </p:txBody>
      </p:sp>
      <p:pic>
        <p:nvPicPr>
          <p:cNvPr id="5" name="umi_benchmark_progr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057148"/>
            <a:ext cx="5806440" cy="4387088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6629400" y="1024128"/>
            <a:ext cx="4709160" cy="196596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110000" tIns="70000" rIns="110000" bIns="70000"/>
          <a:lstStyle/>
          <a:p>
            <a:pPr algn="l"/>
            <a:r>
              <a:rPr lang="en-US" sz="1950" b="1">
                <a:solidFill>
                  <a:srgbClr val="111827"/>
                </a:solidFill>
                <a:latin typeface="Aptos"/>
              </a:rPr>
              <a:t>Next comparison scenario</a:t>
            </a:r>
            <a:endParaRPr lang="en-US" sz="1950"/>
          </a:p>
          <a:p>
            <a:pPr algn="l"/>
            <a:r>
              <a:rPr lang="en-US" sz="1500">
                <a:solidFill>
                  <a:srgbClr val="111827"/>
                </a:solidFill>
                <a:latin typeface="Aptos"/>
              </a:rPr>
              <a:t>The UMi run extends the evidence from Rayleigh to a 3GPP urban microcell channel model. It is tracked as future work until final graphs are generated.</a:t>
            </a:r>
            <a:endParaRPr lang="en-US" sz="1500"/>
          </a:p>
        </p:txBody>
      </p:sp>
      <p:sp>
        <p:nvSpPr>
          <p:cNvPr id="7" name="TextBox 7"/>
          <p:cNvSpPr txBox="1"/>
          <p:nvPr/>
        </p:nvSpPr>
        <p:spPr>
          <a:xfrm>
            <a:off x="6629400" y="3657600"/>
            <a:ext cx="4709160" cy="1188720"/>
          </a:xfrm>
          <a:prstGeom prst="rect">
            <a:avLst/>
          </a:prstGeom>
          <a:solidFill>
            <a:srgbClr val="FFFBEB"/>
          </a:solidFill>
          <a:ln>
            <a:solidFill>
              <a:srgbClr val="FDE68A"/>
            </a:solidFill>
          </a:ln>
        </p:spPr>
        <p:txBody>
          <a:bodyPr wrap="square" lIns="110000" tIns="70000" rIns="110000" bIns="70000"/>
          <a:lstStyle/>
          <a:p>
            <a:pPr algn="l"/>
            <a:r>
              <a:rPr lang="en-US" sz="1900" b="1">
                <a:solidFill>
                  <a:srgbClr val="92400E"/>
                </a:solidFill>
                <a:latin typeface="Aptos"/>
              </a:rPr>
              <a:t>Progress snapshot</a:t>
            </a:r>
            <a:endParaRPr lang="en-US" sz="1900"/>
          </a:p>
          <a:p>
            <a:pPr algn="l"/>
            <a:r>
              <a:rPr lang="en-US" sz="1450">
                <a:solidFill>
                  <a:srgbClr val="92400E"/>
                </a:solidFill>
                <a:latin typeface="Aptos"/>
              </a:rPr>
              <a:t>Current checkpoint: 1557/2000 batches</a:t>
            </a:r>
            <a:endParaRPr lang="en-US" sz="1450"/>
          </a:p>
          <a:p>
            <a:pPr algn="l"/>
            <a:r>
              <a:rPr lang="en-US" sz="1450">
                <a:solidFill>
                  <a:srgbClr val="92400E"/>
                </a:solidFill>
                <a:latin typeface="Aptos"/>
              </a:rPr>
              <a:t>Final UMi graphs are not claimed as completed proof.</a:t>
            </a:r>
            <a:endParaRPr lang="en-US" sz="14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tory6G">
  <a:themeElements>
    <a:clrScheme name="Factory6G">
      <a:dk1>
        <a:srgbClr val="0F172A"/>
      </a:dk1>
      <a:lt1>
        <a:srgbClr val="F8FAFC"/>
      </a:lt1>
      <a:dk2>
        <a:srgbClr val="334155"/>
      </a:dk2>
      <a:lt2>
        <a:srgbClr val="E2E8F0"/>
      </a:lt2>
      <a:accent1>
        <a:srgbClr val="0F766E"/>
      </a:accent1>
      <a:accent2>
        <a:srgbClr val="0369A1"/>
      </a:accent2>
      <a:accent3>
        <a:srgbClr val="475569"/>
      </a:accent3>
      <a:accent4>
        <a:srgbClr val="065F46"/>
      </a:accent4>
      <a:accent5>
        <a:srgbClr val="92400E"/>
      </a:accent5>
      <a:accent6>
        <a:srgbClr val="7F1D1D"/>
      </a:accent6>
      <a:hlink>
        <a:srgbClr val="0369A1"/>
      </a:hlink>
      <a:folHlink>
        <a:srgbClr val="475569"/>
      </a:folHlink>
    </a:clrScheme>
    <a:fontScheme name="Factory6G">
      <a:majorFont>
        <a:latin typeface="Aptos Display"/>
      </a:majorFont>
      <a:minorFont>
        <a:latin typeface="Aptos"/>
      </a:minorFont>
    </a:fontScheme>
    <a:fmtScheme name="Factory6G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Factory6G report generator</Application>
  <Slides>6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Factory6G Weekly Progress Evidence</dc:title>
  <dc:creator>Yahya Khamayseh</dc:creator>
  <dcterms:created xsi:type="dcterms:W3CDTF">2026-04-27T08:00:18Z</dcterms:created>
  <dcterms:modified xsi:type="dcterms:W3CDTF">2026-04-27T08:00:18Z</dcterms:modified>
</cp:coreProperties>
</file>