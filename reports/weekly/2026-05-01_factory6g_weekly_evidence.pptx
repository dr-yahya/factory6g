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7749e528ea4844" /><Relationship Type="http://schemas.openxmlformats.org/officeDocument/2006/relationships/extended-properties" Target="/docProps/app.xml" Id="R82750ae1209449b8" /><Relationship Type="http://schemas.openxmlformats.org/officeDocument/2006/relationships/officeDocument" Target="/ppt/presentation.xml" Id="R764673329d17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4a5363f354c61"/>
  </p:sldMasterIdLst>
  <p:notesMasterIdLst>
    <p:notesMasterId xmlns:r="http://schemas.openxmlformats.org/officeDocument/2006/relationships" r:id="R76785dd91d1e4308"/>
  </p:notesMasterIdLst>
  <p:sldIdLst>
    <p:sldId xmlns:r="http://schemas.openxmlformats.org/officeDocument/2006/relationships" id="256" r:id="R882330b00b774a19"/>
    <p:sldId xmlns:r="http://schemas.openxmlformats.org/officeDocument/2006/relationships" id="257" r:id="Rf9f506de5ea0406a"/>
    <p:sldId xmlns:r="http://schemas.openxmlformats.org/officeDocument/2006/relationships" id="258" r:id="R68313d9744694909"/>
    <p:sldId xmlns:r="http://schemas.openxmlformats.org/officeDocument/2006/relationships" id="259" r:id="R217b5b239f78493c"/>
    <p:sldId xmlns:r="http://schemas.openxmlformats.org/officeDocument/2006/relationships" id="260" r:id="R5fee49b9d3c94d2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4a5363f354c61" /><Relationship Type="http://schemas.openxmlformats.org/officeDocument/2006/relationships/theme" Target="/ppt/theme/theme1.xml" Id="R96c2ad6a0df54612" /><Relationship Type="http://schemas.openxmlformats.org/officeDocument/2006/relationships/notesMaster" Target="/ppt/notesMasters/notesMaster1.xml" Id="R76785dd91d1e4308" /><Relationship Type="http://schemas.openxmlformats.org/officeDocument/2006/relationships/presProps" Target="/ppt/presProps.xml" Id="R7f705e0a092c476a" /><Relationship Type="http://schemas.openxmlformats.org/officeDocument/2006/relationships/viewProps" Target="/ppt/viewProps.xml" Id="Rdcb9c799c40048b6" /><Relationship Type="http://schemas.openxmlformats.org/officeDocument/2006/relationships/tableStyles" Target="/ppt/tableStyles.xml" Id="R7e379d9ae2924645" /><Relationship Type="http://schemas.openxmlformats.org/officeDocument/2006/relationships/slide" Target="/ppt/slides/slide1.xml" Id="R882330b00b774a19" /><Relationship Type="http://schemas.openxmlformats.org/officeDocument/2006/relationships/slide" Target="/ppt/slides/slide2.xml" Id="Rf9f506de5ea0406a" /><Relationship Type="http://schemas.openxmlformats.org/officeDocument/2006/relationships/slide" Target="/ppt/slides/slide3.xml" Id="R68313d9744694909" /><Relationship Type="http://schemas.openxmlformats.org/officeDocument/2006/relationships/slide" Target="/ppt/slides/slide4.xml" Id="R217b5b239f78493c" /><Relationship Type="http://schemas.openxmlformats.org/officeDocument/2006/relationships/slide" Target="/ppt/slides/slide5.xml" Id="R5fee49b9d3c9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34bd993d3c48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52f9483424a9b" /><Relationship Type="http://schemas.openxmlformats.org/officeDocument/2006/relationships/notesMaster" Target="/ppt/notesMasters/notesMaster1.xml" Id="Recf7c9a62e3d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4136e229a64715" /><Relationship Type="http://schemas.openxmlformats.org/officeDocument/2006/relationships/notesMaster" Target="/ppt/notesMasters/notesMaster1.xml" Id="R0d0dae95492e4a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ebe8560a04487" /><Relationship Type="http://schemas.openxmlformats.org/officeDocument/2006/relationships/notesMaster" Target="/ppt/notesMasters/notesMaster1.xml" Id="R4cde8bf87f26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6732ad62f34cd3" /><Relationship Type="http://schemas.openxmlformats.org/officeDocument/2006/relationships/notesMaster" Target="/ppt/notesMasters/notesMaster1.xml" Id="Rca1469ec3642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621228e024e8e" /><Relationship Type="http://schemas.openxmlformats.org/officeDocument/2006/relationships/notesMaster" Target="/ppt/notesMasters/notesMaster1.xml" Id="R620218ca674d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b2c404c46443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094cc65c6b4861" /><Relationship Type="http://schemas.openxmlformats.org/officeDocument/2006/relationships/slideLayout" Target="/ppt/slideLayouts/slideLayout2.xml" Id="Rdf4e6a97a1d6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e6a97a1d6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6971ec3e24023" /><Relationship Type="http://schemas.openxmlformats.org/officeDocument/2006/relationships/chart" Target="/ppt/slides/charts/chart1.xml" Id="R93d2ef9ba4024290" /><Relationship Type="http://schemas.openxmlformats.org/officeDocument/2006/relationships/notesSlide" Target="/ppt/notesSlides/notesSlide1.xml" Id="Rd39105b9bca74a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ad07190c64318" /><Relationship Type="http://schemas.openxmlformats.org/officeDocument/2006/relationships/notesSlide" Target="/ppt/notesSlides/notesSlide2.xml" Id="Rbe437f39af75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1020335d64cca" /><Relationship Type="http://schemas.openxmlformats.org/officeDocument/2006/relationships/image" Target="/ppt/media/image.png" Id="R95bd3aa365ff4c87" /><Relationship Type="http://schemas.openxmlformats.org/officeDocument/2006/relationships/notesSlide" Target="/ppt/notesSlides/notesSlide3.xml" Id="R8ba146f77dab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10a786bd14cfa" /><Relationship Type="http://schemas.openxmlformats.org/officeDocument/2006/relationships/image" Target="/ppt/media/image2.png" Id="Re44aaec28d8f4474" /><Relationship Type="http://schemas.openxmlformats.org/officeDocument/2006/relationships/notesSlide" Target="/ppt/notesSlides/notesSlide4.xml" Id="R7104e310cf3d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9da7751f3452f" /><Relationship Type="http://schemas.openxmlformats.org/officeDocument/2006/relationships/notesSlide" Target="/ppt/notesSlides/notesSlide5.xml" Id="R9cb5e76403ee44be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Loss by epoch</a:t>
            </a:r>
          </a:p>
        </c:rich>
      </c:tx>
      <c:overlay val="0"/>
    </c:title>
    <c:autoTitleDeleted val="0"/>
    <c:plotArea>
      <c:layout/>
      <c:lineChart>
        <c:ser>
          <c:idx val="0"/>
          <c:order val="0"/>
          <c:tx>
            <c:v>train loss</c:v>
          </c:tx>
          <c:cat>
            <c:numLit>
              <c:formatCode/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/>
              <c:ptCount val="9"/>
              <c:pt idx="0">
                <c:v>3.1397364139556885</c:v>
              </c:pt>
              <c:pt idx="1">
                <c:v>1.9249621629714966</c:v>
              </c:pt>
              <c:pt idx="2">
                <c:v>1.4402167797088623</c:v>
              </c:pt>
              <c:pt idx="3">
                <c:v>1.2832415103912354</c:v>
              </c:pt>
              <c:pt idx="4">
                <c:v>1.2174426317214966</c:v>
              </c:pt>
              <c:pt idx="5">
                <c:v>1.1849195957183838</c:v>
              </c:pt>
              <c:pt idx="6">
                <c:v>1.1638588905334473</c:v>
              </c:pt>
              <c:pt idx="7">
                <c:v>1.1459922790527344</c:v>
              </c:pt>
              <c:pt idx="8">
                <c:v>1.1247304677963257</c:v>
              </c:pt>
            </c:numLit>
          </c:val>
          <c:smooth val="0"/>
        </c:ser>
        <c:ser>
          <c:idx val="1"/>
          <c:order val="1"/>
          <c:tx>
            <c:v>validation loss</c:v>
          </c:tx>
          <c:cat>
            <c:numLit>
              <c:formatCode/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/>
              <c:ptCount val="9"/>
              <c:pt idx="0">
                <c:v>2.334308624267578</c:v>
              </c:pt>
              <c:pt idx="1">
                <c:v>1.631283164024353</c:v>
              </c:pt>
              <c:pt idx="2">
                <c:v>1.380703330039978</c:v>
              </c:pt>
              <c:pt idx="3">
                <c:v>1.293638825416565</c:v>
              </c:pt>
              <c:pt idx="4">
                <c:v>1.2577394247055054</c:v>
              </c:pt>
              <c:pt idx="5">
                <c:v>1.2463090419769287</c:v>
              </c:pt>
              <c:pt idx="6">
                <c:v>1.2470753192901611</c:v>
              </c:pt>
              <c:pt idx="7">
                <c:v>1.2488484382629395</c:v>
              </c:pt>
              <c:pt idx="8">
                <c:v>1.2509524822235107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12328EC-C4F3-4EBB-9EAF-DD00FBC0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F24DDCF3-CEEB-4E88-A11B-16E9FB5E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E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1BE5E9-2EB1-4463-A9BF-BF55B26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2534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BER-first DRL resource manager is now a separate experiment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7E0E15-0501-4F21-B19C-B1A6220D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639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The workflow can train a reliability-focused policy and benchmark it independently from the existing DRL baseline.</a:t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30B70D24-0BBF-4687-A282-254AA664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905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4F49"/>
                </a:solidFill>
              </a:defRPr>
            </a:pPr>
            <a:r>
              <a:rPr sz="1425" b="1">
                <a:solidFill>
                  <a:srgbClr val="0A4F49"/>
                </a:solidFill>
              </a:rPr>
              <a:t>Factory6G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61CCC752-3939-4F5E-8A68-3741BDF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8572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Weekly evidence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01 May 2026</a:t>
            </a:r>
          </a:p>
        </p:txBody>
      </p:sp>
      <p:sp>
        <p:nvSpPr>
          <p:cNvPr id="7" name="training samples-value">
            <a:extLst xmlns:a="http://schemas.openxmlformats.org/drawingml/2006/main">
              <a:ext uri="{FF2B5EF4-FFF2-40B4-BE49-F238E27FC236}">
                <a16:creationId xmlns:a16="http://schemas.microsoft.com/office/drawing/2014/main" id="{0EE41CF7-D0EF-4013-AE3A-A8A931AB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110</a:t>
            </a:r>
          </a:p>
        </p:txBody>
      </p:sp>
      <p:sp>
        <p:nvSpPr>
          <p:cNvPr id="8" name="training samples-label">
            <a:extLst xmlns:a="http://schemas.openxmlformats.org/drawingml/2006/main">
              <a:ext uri="{FF2B5EF4-FFF2-40B4-BE49-F238E27FC236}">
                <a16:creationId xmlns:a16="http://schemas.microsoft.com/office/drawing/2014/main" id="{4EEAEB7D-0203-4E45-B99A-0FC7B2E5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training samples</a:t>
            </a:r>
          </a:p>
        </p:txBody>
      </p:sp>
      <p:sp>
        <p:nvSpPr>
          <p:cNvPr id="9" name="state dimension-value">
            <a:extLst xmlns:a="http://schemas.openxmlformats.org/drawingml/2006/main">
              <a:ext uri="{FF2B5EF4-FFF2-40B4-BE49-F238E27FC236}">
                <a16:creationId xmlns:a16="http://schemas.microsoft.com/office/drawing/2014/main" id="{8D0927BF-2BC8-43BC-AA91-2E93685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5B85"/>
                </a:solidFill>
              </a:defRPr>
            </a:pPr>
            <a:r>
              <a:rPr sz="3300" b="1">
                <a:solidFill>
                  <a:srgbClr val="245B85"/>
                </a:solidFill>
              </a:rPr>
              <a:t>130</a:t>
            </a:r>
          </a:p>
        </p:txBody>
      </p:sp>
      <p:sp>
        <p:nvSpPr>
          <p:cNvPr id="10" name="state dimension-label">
            <a:extLst xmlns:a="http://schemas.openxmlformats.org/drawingml/2006/main">
              <a:ext uri="{FF2B5EF4-FFF2-40B4-BE49-F238E27FC236}">
                <a16:creationId xmlns:a16="http://schemas.microsoft.com/office/drawing/2014/main" id="{2239F6ED-137B-4824-BEC7-6C0AE8B8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state dimension</a:t>
            </a:r>
          </a:p>
        </p:txBody>
      </p:sp>
      <p:sp>
        <p:nvSpPr>
          <p:cNvPr id="11" name="epochs run-value">
            <a:extLst xmlns:a="http://schemas.openxmlformats.org/drawingml/2006/main">
              <a:ext uri="{FF2B5EF4-FFF2-40B4-BE49-F238E27FC236}">
                <a16:creationId xmlns:a16="http://schemas.microsoft.com/office/drawing/2014/main" id="{22C42E45-0980-4C46-8BF6-A5EF9242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7A1E"/>
                </a:solidFill>
              </a:defRPr>
            </a:pPr>
            <a:r>
              <a:rPr sz="3300" b="1">
                <a:solidFill>
                  <a:srgbClr val="C47A1E"/>
                </a:solidFill>
              </a:rPr>
              <a:t>9</a:t>
            </a:r>
          </a:p>
        </p:txBody>
      </p:sp>
      <p:sp>
        <p:nvSpPr>
          <p:cNvPr id="12" name="epochs run-label">
            <a:extLst xmlns:a="http://schemas.openxmlformats.org/drawingml/2006/main">
              <a:ext uri="{FF2B5EF4-FFF2-40B4-BE49-F238E27FC236}">
                <a16:creationId xmlns:a16="http://schemas.microsoft.com/office/drawing/2014/main" id="{6F3E0D5E-1B47-4428-83FC-A7B0D3E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epochs run</a:t>
            </a:r>
          </a:p>
        </p:txBody>
      </p:sp>
      <p:sp>
        <p:nvSpPr>
          <p:cNvPr id="13" name="row-0-left">
            <a:extLst xmlns:a="http://schemas.openxmlformats.org/drawingml/2006/main">
              <a:ext uri="{FF2B5EF4-FFF2-40B4-BE49-F238E27FC236}">
                <a16:creationId xmlns:a16="http://schemas.microsoft.com/office/drawing/2014/main" id="{ABB53C30-9E19-4124-9CDB-AD329031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checkpoint</a:t>
            </a:r>
          </a:p>
        </p:txBody>
      </p:sp>
      <p:sp>
        <p:nvSpPr>
          <p:cNvPr id="14" name="row-0-right">
            <a:extLst xmlns:a="http://schemas.openxmlformats.org/drawingml/2006/main">
              <a:ext uri="{FF2B5EF4-FFF2-40B4-BE49-F238E27FC236}">
                <a16:creationId xmlns:a16="http://schemas.microsoft.com/office/drawing/2014/main" id="{6B29C57E-1A60-45BA-9E99-CB5EFD1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671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models/ber_drl_resource_manager_policy</a:t>
            </a:r>
          </a:p>
        </p:txBody>
      </p:sp>
      <p:sp>
        <p:nvSpPr>
          <p:cNvPr id="15" name="row-0-rule">
            <a:extLst xmlns:a="http://schemas.openxmlformats.org/drawingml/2006/main">
              <a:ext uri="{FF2B5EF4-FFF2-40B4-BE49-F238E27FC236}">
                <a16:creationId xmlns:a16="http://schemas.microsoft.com/office/drawing/2014/main" id="{F27A9B8A-44CF-4419-ADD3-382D5773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6" name="row-1-left">
            <a:extLst xmlns:a="http://schemas.openxmlformats.org/drawingml/2006/main">
              <a:ext uri="{FF2B5EF4-FFF2-40B4-BE49-F238E27FC236}">
                <a16:creationId xmlns:a16="http://schemas.microsoft.com/office/drawing/2014/main" id="{921DA038-2A28-4EE8-8085-CEF34AC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target</a:t>
            </a:r>
          </a:p>
        </p:txBody>
      </p:sp>
      <p:sp>
        <p:nvSpPr>
          <p:cNvPr id="17" name="row-1-right">
            <a:extLst xmlns:a="http://schemas.openxmlformats.org/drawingml/2006/main">
              <a:ext uri="{FF2B5EF4-FFF2-40B4-BE49-F238E27FC236}">
                <a16:creationId xmlns:a16="http://schemas.microsoft.com/office/drawing/2014/main" id="{6C25850B-87EE-471E-8391-229D8371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BER log reliability with confidence weighting</a:t>
            </a:r>
          </a:p>
        </p:txBody>
      </p:sp>
      <p:sp>
        <p:nvSpPr>
          <p:cNvPr id="18" name="row-1-rule">
            <a:extLst xmlns:a="http://schemas.openxmlformats.org/drawingml/2006/main">
              <a:ext uri="{FF2B5EF4-FFF2-40B4-BE49-F238E27FC236}">
                <a16:creationId xmlns:a16="http://schemas.microsoft.com/office/drawing/2014/main" id="{EE1EE33A-5572-4F2B-B03C-7E6A9A29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9" name="row-2-left">
            <a:extLst xmlns:a="http://schemas.openxmlformats.org/drawingml/2006/main">
              <a:ext uri="{FF2B5EF4-FFF2-40B4-BE49-F238E27FC236}">
                <a16:creationId xmlns:a16="http://schemas.microsoft.com/office/drawing/2014/main" id="{F90C0788-D7DC-47B2-A4AD-62B6EC0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policy heads</a:t>
            </a:r>
          </a:p>
        </p:txBody>
      </p:sp>
      <p:sp>
        <p:nvSpPr>
          <p:cNvPr id="20" name="row-2-right">
            <a:extLst xmlns:a="http://schemas.openxmlformats.org/drawingml/2006/main">
              <a:ext uri="{FF2B5EF4-FFF2-40B4-BE49-F238E27FC236}">
                <a16:creationId xmlns:a16="http://schemas.microsoft.com/office/drawing/2014/main" id="{50BBC7A6-AD04-48D9-8C0E-2007F9C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149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schedule, power, value</a:t>
            </a:r>
          </a:p>
        </p:txBody>
      </p:sp>
      <p:sp>
        <p:nvSpPr>
          <p:cNvPr id="21" name="row-2-rule">
            <a:extLst xmlns:a="http://schemas.openxmlformats.org/drawingml/2006/main">
              <a:ext uri="{FF2B5EF4-FFF2-40B4-BE49-F238E27FC236}">
                <a16:creationId xmlns:a16="http://schemas.microsoft.com/office/drawing/2014/main" id="{166D368B-E3A1-4AAE-AD4E-89B3FDC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2" name="row-3-left">
            <a:extLst xmlns:a="http://schemas.openxmlformats.org/drawingml/2006/main">
              <a:ext uri="{FF2B5EF4-FFF2-40B4-BE49-F238E27FC236}">
                <a16:creationId xmlns:a16="http://schemas.microsoft.com/office/drawing/2014/main" id="{230F42C6-69BC-4559-8A66-FD67058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created</a:t>
            </a:r>
          </a:p>
        </p:txBody>
      </p:sp>
      <p:sp>
        <p:nvSpPr>
          <p:cNvPr id="23" name="row-3-right">
            <a:extLst xmlns:a="http://schemas.openxmlformats.org/drawingml/2006/main">
              <a:ext uri="{FF2B5EF4-FFF2-40B4-BE49-F238E27FC236}">
                <a16:creationId xmlns:a16="http://schemas.microsoft.com/office/drawing/2014/main" id="{8D6A8B13-D4EA-44D1-BC04-285FF9AE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483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2026-04-29 06:50:22 UTC</a:t>
            </a:r>
          </a:p>
        </p:txBody>
      </p:sp>
      <p:sp>
        <p:nvSpPr>
          <p:cNvPr id="24" name="chart-panel">
            <a:extLst xmlns:a="http://schemas.openxmlformats.org/drawingml/2006/main">
              <a:ext uri="{FF2B5EF4-FFF2-40B4-BE49-F238E27FC236}">
                <a16:creationId xmlns:a16="http://schemas.microsoft.com/office/drawing/2014/main" id="{9A29CD01-6064-4230-AF2B-0268F254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2754630"/>
            <a:ext cx="8521065" cy="652653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FC4"/>
            </a:solidFill>
            <a:prstDash val="solid"/>
          </a:ln>
        </p:spPr>
      </p:sp>
      <p:sp>
        <p:nvSpPr>
          <p:cNvPr id="25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6724367-A000-4920-8873-8F23E734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805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4F49"/>
                </a:solidFill>
              </a:defRPr>
            </a:pPr>
            <a:r>
              <a:rPr sz="1500" b="1">
                <a:solidFill>
                  <a:srgbClr val="0A4F49"/>
                </a:solidFill>
              </a:rPr>
              <a:t>Training loss proof</a:t>
            </a:r>
          </a:p>
        </p:txBody>
      </p:sp>
      <p:graphicFrame>
        <p:nvGraphicFramePr>
          <p:cNvPr id="26" name="training-loss-chart"/>
          <p:cNvGraphicFramePr/>
          <p:nvPr/>
        </p:nvGraphicFramePr>
        <p:xfrm>
          <a:off xmlns:a="http://schemas.openxmlformats.org/drawingml/2006/main" x="9176385" y="3307080"/>
          <a:ext xmlns:a="http://schemas.openxmlformats.org/drawingml/2006/main" cx="8063865" cy="57645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d2ef9ba4024290"/>
          </a:graphicData>
        </a:graphic>
      </p:graphicFrame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59028BF6-308C-4824-882A-03B663AA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5A3"/>
                </a:solidFill>
              </a:defRPr>
            </a:pPr>
            <a:r>
              <a:rPr sz="975">
                <a:solidFill>
                  <a:srgbClr val="8B95A3"/>
                </a:solidFill>
              </a:rPr>
              <a:t>Proof: BER-first checkpoint metadata and training history from models/ber_drl_resource_manager_policy/.</a:t>
            </a:r>
          </a:p>
        </p:txBody>
      </p:sp>
    </p:spTree>
    <p:extLst>
      <p:ext uri="{BB962C8B-B14F-4D97-AF65-F5344CB8AC3E}">
        <p14:creationId xmlns:p14="http://schemas.microsoft.com/office/powerpoint/2010/main" val="1919817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88AED27-D77D-43FC-8418-99109A4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9B236DCF-A176-4AFE-98C6-E099CBC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E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2CB930-6011-4F9C-988E-B9D6C92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09728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Container validation passed for the BER-first workflow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9E9D9A-0099-4264-A56B-5A7F8A02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The tests covered dataset labels, DRL checkpoint loading/projection, and comparison-report generation.</a:t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7A9549B3-77A3-4CFA-8892-B29DB975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905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4F49"/>
                </a:solidFill>
              </a:defRPr>
            </a:pPr>
            <a:r>
              <a:rPr sz="1425" b="1">
                <a:solidFill>
                  <a:srgbClr val="0A4F49"/>
                </a:solidFill>
              </a:rPr>
              <a:t>Factory6G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94FCB6FD-BCBF-4249-9E43-2CC55DAE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8572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Weekly evidence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01 May 2026</a:t>
            </a:r>
          </a:p>
        </p:txBody>
      </p:sp>
      <p:sp>
        <p:nvSpPr>
          <p:cNvPr id="7" name="pytest result-value">
            <a:extLst xmlns:a="http://schemas.openxmlformats.org/drawingml/2006/main">
              <a:ext uri="{FF2B5EF4-FFF2-40B4-BE49-F238E27FC236}">
                <a16:creationId xmlns:a16="http://schemas.microsoft.com/office/drawing/2014/main" id="{5F1F6D01-00C0-4E6A-B2B3-00FA8F01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371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14 passed</a:t>
            </a:r>
          </a:p>
        </p:txBody>
      </p:sp>
      <p:sp>
        <p:nvSpPr>
          <p:cNvPr id="8" name="pytest result-label">
            <a:extLst xmlns:a="http://schemas.openxmlformats.org/drawingml/2006/main">
              <a:ext uri="{FF2B5EF4-FFF2-40B4-BE49-F238E27FC236}">
                <a16:creationId xmlns:a16="http://schemas.microsoft.com/office/drawing/2014/main" id="{134ADC03-5818-4114-B2E6-8189ECB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pytest result</a:t>
            </a:r>
          </a:p>
        </p:txBody>
      </p:sp>
      <p:sp>
        <p:nvSpPr>
          <p:cNvPr id="9" name="runtime-value">
            <a:extLst xmlns:a="http://schemas.openxmlformats.org/drawingml/2006/main">
              <a:ext uri="{FF2B5EF4-FFF2-40B4-BE49-F238E27FC236}">
                <a16:creationId xmlns:a16="http://schemas.microsoft.com/office/drawing/2014/main" id="{17D77033-9050-4BAD-8635-33A13BB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3371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5B85"/>
                </a:solidFill>
              </a:defRPr>
            </a:pPr>
            <a:r>
              <a:rPr sz="3300" b="1">
                <a:solidFill>
                  <a:srgbClr val="245B85"/>
                </a:solidFill>
              </a:rPr>
              <a:t>3.22 s</a:t>
            </a:r>
          </a:p>
        </p:txBody>
      </p:sp>
      <p:sp>
        <p:nvSpPr>
          <p:cNvPr id="10" name="runtime-label">
            <a:extLst xmlns:a="http://schemas.openxmlformats.org/drawingml/2006/main">
              <a:ext uri="{FF2B5EF4-FFF2-40B4-BE49-F238E27FC236}">
                <a16:creationId xmlns:a16="http://schemas.microsoft.com/office/drawing/2014/main" id="{51F0B53A-436C-4AE1-892D-A5260D2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runtime</a:t>
            </a:r>
          </a:p>
        </p:txBody>
      </p:sp>
      <p:sp>
        <p:nvSpPr>
          <p:cNvPr id="11" name="row-0-left">
            <a:extLst xmlns:a="http://schemas.openxmlformats.org/drawingml/2006/main">
              <a:ext uri="{FF2B5EF4-FFF2-40B4-BE49-F238E27FC236}">
                <a16:creationId xmlns:a16="http://schemas.microsoft.com/office/drawing/2014/main" id="{B346A20D-F4E6-41E7-B0A0-0A09C996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dataset tests</a:t>
            </a:r>
          </a:p>
        </p:txBody>
      </p:sp>
      <p:sp>
        <p:nvSpPr>
          <p:cNvPr id="12" name="row-0-right">
            <a:extLst xmlns:a="http://schemas.openxmlformats.org/drawingml/2006/main">
              <a:ext uri="{FF2B5EF4-FFF2-40B4-BE49-F238E27FC236}">
                <a16:creationId xmlns:a16="http://schemas.microsoft.com/office/drawing/2014/main" id="{814E10DB-7C9D-4C8F-9AD2-C86EBA9B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0000"/>
            <a:ext cx="4248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BER-first sorting, active-UT masking, and parquet schema</a:t>
            </a:r>
          </a:p>
        </p:txBody>
      </p:sp>
      <p:sp>
        <p:nvSpPr>
          <p:cNvPr id="13" name="row-0-rule">
            <a:extLst xmlns:a="http://schemas.openxmlformats.org/drawingml/2006/main">
              <a:ext uri="{FF2B5EF4-FFF2-40B4-BE49-F238E27FC236}">
                <a16:creationId xmlns:a16="http://schemas.microsoft.com/office/drawing/2014/main" id="{7EF4241D-41DF-46CD-9EC5-F32C76D2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4" name="row-1-left">
            <a:extLst xmlns:a="http://schemas.openxmlformats.org/drawingml/2006/main">
              <a:ext uri="{FF2B5EF4-FFF2-40B4-BE49-F238E27FC236}">
                <a16:creationId xmlns:a16="http://schemas.microsoft.com/office/drawing/2014/main" id="{0DEF2EDA-4877-4F8A-BF97-8BDFAD1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policy tests</a:t>
            </a:r>
          </a:p>
        </p:txBody>
      </p:sp>
      <p:sp>
        <p:nvSpPr>
          <p:cNvPr id="15" name="row-1-right">
            <a:extLst xmlns:a="http://schemas.openxmlformats.org/drawingml/2006/main">
              <a:ext uri="{FF2B5EF4-FFF2-40B4-BE49-F238E27FC236}">
                <a16:creationId xmlns:a16="http://schemas.microsoft.com/office/drawing/2014/main" id="{7F8CD2FE-E7FC-472A-9465-A3A7B45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4248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checkpoint round trip, Keras compatibility fallback, ber_drl projection</a:t>
            </a:r>
          </a:p>
        </p:txBody>
      </p:sp>
      <p:sp>
        <p:nvSpPr>
          <p:cNvPr id="16" name="row-1-rule">
            <a:extLst xmlns:a="http://schemas.openxmlformats.org/drawingml/2006/main">
              <a:ext uri="{FF2B5EF4-FFF2-40B4-BE49-F238E27FC236}">
                <a16:creationId xmlns:a16="http://schemas.microsoft.com/office/drawing/2014/main" id="{22CF1264-95CB-4B38-9307-972E66E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7" name="row-2-left">
            <a:extLst xmlns:a="http://schemas.openxmlformats.org/drawingml/2006/main">
              <a:ext uri="{FF2B5EF4-FFF2-40B4-BE49-F238E27FC236}">
                <a16:creationId xmlns:a16="http://schemas.microsoft.com/office/drawing/2014/main" id="{2BAB03C0-B65C-4E07-B283-1663401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report tests</a:t>
            </a:r>
          </a:p>
        </p:txBody>
      </p:sp>
      <p:sp>
        <p:nvSpPr>
          <p:cNvPr id="18" name="row-2-right">
            <a:extLst xmlns:a="http://schemas.openxmlformats.org/drawingml/2006/main">
              <a:ext uri="{FF2B5EF4-FFF2-40B4-BE49-F238E27FC236}">
                <a16:creationId xmlns:a16="http://schemas.microsoft.com/office/drawing/2014/main" id="{62511C1D-5709-4822-83C0-F9D24E7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4248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explicit stage inputs and ranking/report output behavior</a:t>
            </a:r>
          </a:p>
        </p:txBody>
      </p:sp>
      <p:sp>
        <p:nvSpPr>
          <p:cNvPr id="19" name="row-2-rule">
            <a:extLst xmlns:a="http://schemas.openxmlformats.org/drawingml/2006/main">
              <a:ext uri="{FF2B5EF4-FFF2-40B4-BE49-F238E27FC236}">
                <a16:creationId xmlns:a16="http://schemas.microsoft.com/office/drawing/2014/main" id="{C0A09D8B-28B2-42C9-89DD-18E8C9B8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0" name="row-3-left">
            <a:extLst xmlns:a="http://schemas.openxmlformats.org/drawingml/2006/main">
              <a:ext uri="{FF2B5EF4-FFF2-40B4-BE49-F238E27FC236}">
                <a16:creationId xmlns:a16="http://schemas.microsoft.com/office/drawing/2014/main" id="{9B344F11-A2CE-48BB-8EB3-3ED96C3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environment</a:t>
            </a:r>
          </a:p>
        </p:txBody>
      </p:sp>
      <p:sp>
        <p:nvSpPr>
          <p:cNvPr id="21" name="row-3-right">
            <a:extLst xmlns:a="http://schemas.openxmlformats.org/drawingml/2006/main">
              <a:ext uri="{FF2B5EF4-FFF2-40B4-BE49-F238E27FC236}">
                <a16:creationId xmlns:a16="http://schemas.microsoft.com/office/drawing/2014/main" id="{6116A46B-0F46-4CA3-8C12-F17A10CA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91150"/>
            <a:ext cx="4248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Docker Compose simulation service with repo bind mount</a:t>
            </a:r>
          </a:p>
        </p:txBody>
      </p:sp>
      <p:sp>
        <p:nvSpPr>
          <p:cNvPr id="22" name="command-proof">
            <a:extLst xmlns:a="http://schemas.openxmlformats.org/drawingml/2006/main">
              <a:ext uri="{FF2B5EF4-FFF2-40B4-BE49-F238E27FC236}">
                <a16:creationId xmlns:a16="http://schemas.microsoft.com/office/drawing/2014/main" id="{9E97F2AC-3E71-4C80-9EAB-8D88DFC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53" y="2754630"/>
            <a:ext cx="8895398" cy="652653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1E242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77A54-8457-4068-866E-88E9CF4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8248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C4BE"/>
                </a:solidFill>
              </a:defRPr>
            </a:pPr>
            <a:r>
              <a:rPr sz="1425" b="1">
                <a:solidFill>
                  <a:srgbClr val="B8C4BE"/>
                </a:solidFill>
              </a:rPr>
              <a:t>Docker 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0966E-3FA0-4A95-889D-67DE096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67100"/>
            <a:ext cx="8248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4F0E8"/>
                </a:solidFill>
              </a:defRPr>
            </a:pPr>
            <a:r>
              <a:rPr sz="1650">
                <a:solidFill>
                  <a:srgbClr val="F4F0E8"/>
                </a:solidFill>
              </a:rPr>
              <a:t>docker compose run --rm --entrypoint python -v /Users/.../Factory6G:/app simulation -m pytest tests/test_dataset_generation.py tests/test_drl_policy_pipeline.py tests/test_rm_ber_report.py -q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940BD-BA52-4B64-9A19-34AACFC7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824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25B"/>
          </a:solidFill>
          <a:ln xmlns:a="http://schemas.openxmlformats.org/drawingml/2006/main" w="0">
            <a:solidFill>
              <a:srgbClr val="5362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28B28-4245-4D25-8542-D97E1756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8248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6F0D2"/>
                </a:solidFill>
              </a:defRPr>
            </a:pPr>
            <a:r>
              <a:rPr sz="2250" b="1">
                <a:solidFill>
                  <a:srgbClr val="B6F0D2"/>
                </a:solidFill>
              </a:rPr>
              <a:t>..............  [100%]</a:t>
            </a:r>
          </a:p>
          <a:p xmlns:a="http://schemas.openxmlformats.org/drawingml/2006/main">
            <a:pPr>
              <a:defRPr sz="2250" b="1">
                <a:solidFill>
                  <a:srgbClr val="B6F0D2"/>
                </a:solidFill>
              </a:defRPr>
            </a:pPr>
            <a:r>
              <a:rPr sz="2250" b="1">
                <a:solidFill>
                  <a:srgbClr val="B6F0D2"/>
                </a:solidFill>
              </a:rPr>
              <a:t>14 passed in 3.22s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7AED18F4-BA23-42C0-A0C4-A781F94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5A3"/>
                </a:solidFill>
              </a:defRPr>
            </a:pPr>
            <a:r>
              <a:rPr sz="975">
                <a:solidFill>
                  <a:srgbClr val="8B95A3"/>
                </a:solidFill>
              </a:rPr>
              <a:t>Proof: Docker pytest output from 2026-05-01 validation run.</a:t>
            </a:r>
          </a:p>
        </p:txBody>
      </p:sp>
    </p:spTree>
    <p:extLst>
      <p:ext uri="{BB962C8B-B14F-4D97-AF65-F5344CB8AC3E}">
        <p14:creationId xmlns:p14="http://schemas.microsoft.com/office/powerpoint/2010/main" val="2063336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21B1D20-F6FF-41C6-A156-A83B79E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6602CDF1-F1AC-4D51-B41C-0D24840B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E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A1DC23-B4E5-47B7-BE9B-B748C5AE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2763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Rayleigh benchmark completed: reliable, but not yet better than the top baseline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B8747D-739B-4393-B6E1-933E2805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9258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ber_drl finished the Rayleigh run and produced BER/latency/throughput/power proof plots.</a:t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7DE0430E-9499-4BF9-8099-F09A881B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905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4F49"/>
                </a:solidFill>
              </a:defRPr>
            </a:pPr>
            <a:r>
              <a:rPr sz="1425" b="1">
                <a:solidFill>
                  <a:srgbClr val="0A4F49"/>
                </a:solidFill>
              </a:rPr>
              <a:t>Factory6G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D6EF6D23-5734-46EB-932D-7BD5F92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8572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Weekly evidence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01 May 2026</a:t>
            </a:r>
          </a:p>
        </p:txBody>
      </p:sp>
      <p:sp>
        <p:nvSpPr>
          <p:cNvPr id="7" name="plot-shell">
            <a:extLst xmlns:a="http://schemas.openxmlformats.org/drawingml/2006/main">
              <a:ext uri="{FF2B5EF4-FFF2-40B4-BE49-F238E27FC236}">
                <a16:creationId xmlns:a16="http://schemas.microsoft.com/office/drawing/2014/main" id="{B4711A2D-DBE2-4052-83CD-62B9ADA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4630"/>
            <a:ext cx="9749790" cy="652653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FC4"/>
            </a:solidFill>
            <a:prstDash val="solid"/>
          </a:ln>
        </p:spPr>
      </p:sp>
      <p:pic>
        <p:nvPicPr>
          <p:cNvPr id="8" name="proof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d3aa365ff4c87"/>
          <a:stretch xmlns:a="http://schemas.openxmlformats.org/drawingml/2006/main"/>
        </p:blipFill>
        <p:spPr>
          <a:xfrm xmlns:a="http://schemas.openxmlformats.org/drawingml/2006/main">
            <a:off x="1056322" y="2926080"/>
            <a:ext cx="9275445" cy="6183630"/>
          </a:xfrm>
          <a:prstGeom xmlns:a="http://schemas.openxmlformats.org/drawingml/2006/main" prst="rect">
            <a:avLst/>
          </a:prstGeom>
        </p:spPr>
      </p:pic>
      <p:sp>
        <p:nvSpPr>
          <p:cNvPr id="9" name="ber_drl mean BER-value">
            <a:extLst xmlns:a="http://schemas.openxmlformats.org/drawingml/2006/main">
              <a:ext uri="{FF2B5EF4-FFF2-40B4-BE49-F238E27FC236}">
                <a16:creationId xmlns:a16="http://schemas.microsoft.com/office/drawing/2014/main" id="{BCC891AD-179B-4565-8E68-8B292DF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0"/>
            <a:ext cx="3067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1.149e-7</a:t>
            </a:r>
          </a:p>
        </p:txBody>
      </p:sp>
      <p:sp>
        <p:nvSpPr>
          <p:cNvPr id="10" name="ber_drl mean BER-label">
            <a:extLst xmlns:a="http://schemas.openxmlformats.org/drawingml/2006/main">
              <a:ext uri="{FF2B5EF4-FFF2-40B4-BE49-F238E27FC236}">
                <a16:creationId xmlns:a16="http://schemas.microsoft.com/office/drawing/2014/main" id="{02D34DBB-8D36-40FD-A015-40DD9C29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956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ber_drl mean BER</a:t>
            </a:r>
          </a:p>
        </p:txBody>
      </p:sp>
      <p:sp>
        <p:nvSpPr>
          <p:cNvPr id="11" name="latency-value">
            <a:extLst xmlns:a="http://schemas.openxmlformats.org/drawingml/2006/main">
              <a:ext uri="{FF2B5EF4-FFF2-40B4-BE49-F238E27FC236}">
                <a16:creationId xmlns:a16="http://schemas.microsoft.com/office/drawing/2014/main" id="{B8F3CA49-3F9D-41BA-8C89-B32EAC1F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762250"/>
            <a:ext cx="3067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5B85"/>
                </a:solidFill>
              </a:defRPr>
            </a:pPr>
            <a:r>
              <a:rPr sz="3300" b="1">
                <a:solidFill>
                  <a:srgbClr val="245B85"/>
                </a:solidFill>
              </a:rPr>
              <a:t>507.0 ms</a:t>
            </a:r>
          </a:p>
        </p:txBody>
      </p:sp>
      <p:sp>
        <p:nvSpPr>
          <p:cNvPr id="12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3226C697-BF05-4D04-9501-1CD32015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956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4CE3C-36BE-4425-85C7-08650814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671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03EF9-6CBD-4093-B906-4F72BCE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8671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ber_drl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A1293-D96D-4F3D-A8CE-0B4BC750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86715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best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ADBB5-A0D3-40A3-B26E-B4638FB4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7195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4127C-ABCF-4DC1-9844-18D561E4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3243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1FCA2-9F1E-42C1-B6AD-741D629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3053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1.149e-7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681E3-7327-4EEF-81C6-C4635EA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30530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drl: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FD399-1014-41BF-96BF-C0C5DB5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66725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DCCB7-121E-438A-B8C8-4829DAF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8387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BER upper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ADE2F-F20E-4721-A9DF-B68FCDE8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8196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1.306e-7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2C417-1317-4F04-A87D-AACAFEA7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8196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7.619e-9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D5128-7070-4D40-9ED0-FF29B89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816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B2F5D-B0C8-4CBD-AB70-374F460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3340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7DEF7-6D5D-425C-84E4-749EE27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3149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#7 of 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810B9-2254-46AF-ABCB-ECDE702A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3149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#1 drl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909AE-0F20-48B3-B0B9-0FE5D09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6769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21DFF-79D6-4C05-9A6C-1312B7C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8483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batches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6646B-B00F-4F33-8B13-451A49E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8293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2000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2BE3A-B6FC-4910-912B-190D132E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82930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2000</a:t>
            </a:r>
          </a:p>
        </p:txBody>
      </p:sp>
      <p:sp>
        <p:nvSpPr>
          <p:cNvPr id="32" name="rayleigh-interpretation">
            <a:extLst xmlns:a="http://schemas.openxmlformats.org/drawingml/2006/main">
              <a:ext uri="{FF2B5EF4-FFF2-40B4-BE49-F238E27FC236}">
                <a16:creationId xmlns:a16="http://schemas.microsoft.com/office/drawing/2014/main" id="{C5CF5ABA-6FA3-40F3-86E1-2B4EC53E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6496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Interpretation: the trained BER-first path is operational and close to zero-BER behavior, but the benchmark should not be reported as an improvement yet.</a:t>
            </a:r>
          </a:p>
        </p:txBody>
      </p:sp>
      <p:sp>
        <p:nvSpPr>
          <p:cNvPr id="33" name="source">
            <a:extLst xmlns:a="http://schemas.openxmlformats.org/drawingml/2006/main">
              <a:ext uri="{FF2B5EF4-FFF2-40B4-BE49-F238E27FC236}">
                <a16:creationId xmlns:a16="http://schemas.microsoft.com/office/drawing/2014/main" id="{B92FEDDB-3ABB-492B-B350-EE75F5D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5A3"/>
                </a:solidFill>
              </a:defRPr>
            </a:pPr>
            <a:r>
              <a:rPr sz="975">
                <a:solidFill>
                  <a:srgbClr val="8B95A3"/>
                </a:solidFill>
              </a:rPr>
              <a:t>Proof: results/20260428_144330_ber_drl_rayleigh_qpsk_s and weekly BER comparison CSV.</a:t>
            </a:r>
          </a:p>
        </p:txBody>
      </p:sp>
    </p:spTree>
    <p:extLst>
      <p:ext uri="{BB962C8B-B14F-4D97-AF65-F5344CB8AC3E}">
        <p14:creationId xmlns:p14="http://schemas.microsoft.com/office/powerpoint/2010/main" val="771488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8AFE6D0-C414-46D9-B5AA-3C6533A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264D0D10-3CEF-43EE-8727-501B450F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E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DD38B3-A49C-4FFE-8668-F7C575CA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2553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UMI/TR38901 benchmark completed: close to DRL, behind max-throughput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57ACEC-5F0A-45E9-B1DC-5C98AD29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41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The trained ber_drl policy completed the UMI/TR38901 benchmark and produced the same evidence graph set.</a:t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D0123E3A-EA22-44FF-AA29-12AD59CF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905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4F49"/>
                </a:solidFill>
              </a:defRPr>
            </a:pPr>
            <a:r>
              <a:rPr sz="1425" b="1">
                <a:solidFill>
                  <a:srgbClr val="0A4F49"/>
                </a:solidFill>
              </a:rPr>
              <a:t>Factory6G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E5DBEC8B-4DF2-46B5-9D92-29E10EB4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8572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Weekly evidence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01 May 2026</a:t>
            </a:r>
          </a:p>
        </p:txBody>
      </p:sp>
      <p:sp>
        <p:nvSpPr>
          <p:cNvPr id="7" name="plot-shell">
            <a:extLst xmlns:a="http://schemas.openxmlformats.org/drawingml/2006/main">
              <a:ext uri="{FF2B5EF4-FFF2-40B4-BE49-F238E27FC236}">
                <a16:creationId xmlns:a16="http://schemas.microsoft.com/office/drawing/2014/main" id="{6F9287D6-3422-4720-8FF2-0C96782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4630"/>
            <a:ext cx="9749790" cy="652653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FC4"/>
            </a:solidFill>
            <a:prstDash val="solid"/>
          </a:ln>
        </p:spPr>
      </p:sp>
      <p:pic>
        <p:nvPicPr>
          <p:cNvPr id="8" name="proof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aaec28d8f4474"/>
          <a:stretch xmlns:a="http://schemas.openxmlformats.org/drawingml/2006/main"/>
        </p:blipFill>
        <p:spPr>
          <a:xfrm xmlns:a="http://schemas.openxmlformats.org/drawingml/2006/main">
            <a:off x="1056322" y="2926080"/>
            <a:ext cx="9275445" cy="6183630"/>
          </a:xfrm>
          <a:prstGeom xmlns:a="http://schemas.openxmlformats.org/drawingml/2006/main" prst="rect">
            <a:avLst/>
          </a:prstGeom>
        </p:spPr>
      </p:pic>
      <p:sp>
        <p:nvSpPr>
          <p:cNvPr id="9" name="ber_drl mean BER-value">
            <a:extLst xmlns:a="http://schemas.openxmlformats.org/drawingml/2006/main">
              <a:ext uri="{FF2B5EF4-FFF2-40B4-BE49-F238E27FC236}">
                <a16:creationId xmlns:a16="http://schemas.microsoft.com/office/drawing/2014/main" id="{8CB2EBB7-B423-4623-AC11-74E9F967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0"/>
            <a:ext cx="3067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1.687e-4</a:t>
            </a:r>
          </a:p>
        </p:txBody>
      </p:sp>
      <p:sp>
        <p:nvSpPr>
          <p:cNvPr id="10" name="ber_drl mean BER-label">
            <a:extLst xmlns:a="http://schemas.openxmlformats.org/drawingml/2006/main">
              <a:ext uri="{FF2B5EF4-FFF2-40B4-BE49-F238E27FC236}">
                <a16:creationId xmlns:a16="http://schemas.microsoft.com/office/drawing/2014/main" id="{63BF4160-9AC6-4D9A-BD61-AD56319A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956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ber_drl mean BER</a:t>
            </a:r>
          </a:p>
        </p:txBody>
      </p:sp>
      <p:sp>
        <p:nvSpPr>
          <p:cNvPr id="11" name="latency-value">
            <a:extLst xmlns:a="http://schemas.openxmlformats.org/drawingml/2006/main">
              <a:ext uri="{FF2B5EF4-FFF2-40B4-BE49-F238E27FC236}">
                <a16:creationId xmlns:a16="http://schemas.microsoft.com/office/drawing/2014/main" id="{D5A254CC-B7FE-4C3E-B6F1-2192AF7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762250"/>
            <a:ext cx="3067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5B85"/>
                </a:solidFill>
              </a:defRPr>
            </a:pPr>
            <a:r>
              <a:rPr sz="3300" b="1">
                <a:solidFill>
                  <a:srgbClr val="245B85"/>
                </a:solidFill>
              </a:rPr>
              <a:t>508.8 ms</a:t>
            </a:r>
          </a:p>
        </p:txBody>
      </p:sp>
      <p:sp>
        <p:nvSpPr>
          <p:cNvPr id="12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8A0CA335-69D5-4BC6-BAB4-389FE80C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956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E1D31-E692-44BF-8019-5399AD92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671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64633-7A98-4D84-9D9B-126C2E6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8671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ber_drl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B262D-A52E-4FCE-B6B1-5C3B4482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86715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best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0FFDF-5834-41CC-BF61-FE8649F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7195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42D7D-2F77-498A-B8C3-03F01A6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3243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13E5D-2E7F-4349-BBB0-5E8AC8E2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3053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1.687e-4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95EA6-0C68-434C-ADA9-277F18A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30530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max throughput: 9.807e-5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D35B2-5BB2-4105-A550-DAD992F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66725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87067-51A0-4AB8-9315-DDA831C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8387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BER upper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4A381-0354-440B-9222-CE6D759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8196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1.704e-4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853AB-8F4F-45A9-A339-A4BBFEDE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48196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9.915e-5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615FD-3B40-49B3-811C-E0327907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816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CDC2B-1AD9-4D00-8A7F-6461ADD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3340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BA636-712A-4904-9C57-3424148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3149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#4 of 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E7E88-A269-4369-B8BE-7B2E22B6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3149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#1 max throughput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B11B4-02B1-4528-844A-07CE7057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6769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2045D-4401-4A2B-968C-D83CBD64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8483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AB912-179F-4D99-8F95-8ECF728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8293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10089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DBD6D-63B5-4304-BCBB-819C064A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82930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13819 s</a:t>
            </a:r>
          </a:p>
        </p:txBody>
      </p:sp>
      <p:sp>
        <p:nvSpPr>
          <p:cNvPr id="32" name="umi-interpretation">
            <a:extLst xmlns:a="http://schemas.openxmlformats.org/drawingml/2006/main">
              <a:ext uri="{FF2B5EF4-FFF2-40B4-BE49-F238E27FC236}">
                <a16:creationId xmlns:a16="http://schemas.microsoft.com/office/drawing/2014/main" id="{99193ABE-C542-4B92-9B6F-58037C7A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6496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Interpretation: UMI is the harder channel; ber_drl is near the original DRL baseline but still needs more training data and tuning to pass max-throughput on BER.</a:t>
            </a:r>
          </a:p>
        </p:txBody>
      </p:sp>
      <p:sp>
        <p:nvSpPr>
          <p:cNvPr id="33" name="source">
            <a:extLst xmlns:a="http://schemas.openxmlformats.org/drawingml/2006/main">
              <a:ext uri="{FF2B5EF4-FFF2-40B4-BE49-F238E27FC236}">
                <a16:creationId xmlns:a16="http://schemas.microsoft.com/office/drawing/2014/main" id="{E0A26DE5-CFD8-485C-B3FF-3D41924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5A3"/>
                </a:solidFill>
              </a:defRPr>
            </a:pPr>
            <a:r>
              <a:rPr sz="975">
                <a:solidFill>
                  <a:srgbClr val="8B95A3"/>
                </a:solidFill>
              </a:rPr>
              <a:t>Proof: results/20260428_103926_ber_drl_umi_qpsk_s and weekly BER comparison CSV.</a:t>
            </a:r>
          </a:p>
        </p:txBody>
      </p:sp>
    </p:spTree>
    <p:extLst>
      <p:ext uri="{BB962C8B-B14F-4D97-AF65-F5344CB8AC3E}">
        <p14:creationId xmlns:p14="http://schemas.microsoft.com/office/powerpoint/2010/main" val="1555420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4E88466B-02E7-42DD-B86C-66C15A01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4C6E950E-1894-4577-A4A6-DAFB4DD5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E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182348-8D8F-462D-B32C-96AD791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2477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Next step: scale labels, tune policy projection, then re-run both channels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138F86-FD2E-4437-A100-9C0F9EC5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The evidence now separates completed implementation from the remaining research optimization target.</a:t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DE9DEEB9-64F0-425A-A77F-411D163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905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4F49"/>
                </a:solidFill>
              </a:defRPr>
            </a:pPr>
            <a:r>
              <a:rPr sz="1425" b="1">
                <a:solidFill>
                  <a:srgbClr val="0A4F49"/>
                </a:solidFill>
              </a:rPr>
              <a:t>Factory6G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ABE7DBFB-D0FD-4BA7-92DE-436DD30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857250"/>
            <a:ext cx="201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Weekly evidence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01 May 2026</a:t>
            </a:r>
          </a:p>
        </p:txBody>
      </p:sp>
      <p:sp>
        <p:nvSpPr>
          <p:cNvPr id="7" name="comparison-panel">
            <a:extLst xmlns:a="http://schemas.openxmlformats.org/drawingml/2006/main">
              <a:ext uri="{FF2B5EF4-FFF2-40B4-BE49-F238E27FC236}">
                <a16:creationId xmlns:a16="http://schemas.microsoft.com/office/drawing/2014/main" id="{08567BC3-3F67-48B6-B133-4D7F0EE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4630"/>
            <a:ext cx="8481060" cy="6526530"/>
          </a:xfrm>
          <a:prstGeom xmlns:a="http://schemas.openxmlformats.org/drawingml/2006/main" prst="roundRect">
            <a:avLst>
              <a:gd name="adj" fmla="val 11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F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0FBE7-1699-471D-ABC7-1EA565EF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790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4F49"/>
                </a:solidFill>
              </a:defRPr>
            </a:pPr>
            <a:r>
              <a:rPr sz="1575" b="1">
                <a:solidFill>
                  <a:srgbClr val="0A4F49"/>
                </a:solidFill>
              </a:rPr>
              <a:t>Cross-channel result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9802C-219D-42E5-9A19-60D812D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09CBD-90C2-4B0A-A1AA-145B7D1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ber_drl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B8C21-B00F-4FAA-8CA6-DA848DBC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best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2B89D-DD10-4344-A871-F82D9784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F1EB1-F675-4550-A9AA-475C479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Rayleigh 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1F56B-FD1B-4EB2-8FC0-22C2D51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005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1.149e-7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6CC8B-D8B8-4743-A801-2D65B73E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drl: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F5C82-3C57-4ADA-8ECE-969D677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21FC7-2D1D-4A38-9656-24D78B58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Rayleigh 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28CE5-5B02-4BCE-B503-F8F23C78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958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#7 of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E6B05-CA36-4E8C-9145-BF1FEE4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958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#1 drl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BED2C-5CD2-4DD3-91CF-94058067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28A5B-8141-4F64-B5D0-4EB4E51A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UMI 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F0F26-3A8D-4CEE-B826-C09BB35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1.687e-4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56A3C-CDC4-4AC7-AED0-1A8B567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101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max throughput: 9.807e-5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E0B77-40E3-4E19-ABDD-A9564CB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531CD-ADAE-4CBA-9118-B99283CC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A4F49"/>
                </a:solidFill>
              </a:defRPr>
            </a:pPr>
            <a:r>
              <a:rPr sz="1350">
                <a:solidFill>
                  <a:srgbClr val="0A4F49"/>
                </a:solidFill>
              </a:rPr>
              <a:t>UMI 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5F562-57AE-4288-88FE-07CF8B3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054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#4 of 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C168E-BB1D-4ACC-AEF0-4CDDE766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054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#1 max throughput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9BA27-6C6B-494A-ACDC-1EEE42B2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57900"/>
            <a:ext cx="7905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Conclusion: the BER-first path is ready for research iteration, but the current model is not yet the strongest BER performer.</a:t>
            </a:r>
          </a:p>
        </p:txBody>
      </p:sp>
      <p:sp>
        <p:nvSpPr>
          <p:cNvPr id="29" name="current training set-value">
            <a:extLst xmlns:a="http://schemas.openxmlformats.org/drawingml/2006/main">
              <a:ext uri="{FF2B5EF4-FFF2-40B4-BE49-F238E27FC236}">
                <a16:creationId xmlns:a16="http://schemas.microsoft.com/office/drawing/2014/main" id="{BFEF7D85-5C79-4203-A811-B99BE670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7A1E"/>
                </a:solidFill>
              </a:defRPr>
            </a:pPr>
            <a:r>
              <a:rPr sz="3300" b="1">
                <a:solidFill>
                  <a:srgbClr val="C47A1E"/>
                </a:solidFill>
              </a:rPr>
              <a:t>110 samples</a:t>
            </a:r>
          </a:p>
        </p:txBody>
      </p:sp>
      <p:sp>
        <p:nvSpPr>
          <p:cNvPr id="30" name="current training set-label">
            <a:extLst xmlns:a="http://schemas.openxmlformats.org/drawingml/2006/main">
              <a:ext uri="{FF2B5EF4-FFF2-40B4-BE49-F238E27FC236}">
                <a16:creationId xmlns:a16="http://schemas.microsoft.com/office/drawing/2014/main" id="{37C5260E-7D9A-4600-839E-6A7791F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767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current training set</a:t>
            </a:r>
          </a:p>
        </p:txBody>
      </p:sp>
      <p:sp>
        <p:nvSpPr>
          <p:cNvPr id="31" name="row-0-left">
            <a:extLst xmlns:a="http://schemas.openxmlformats.org/drawingml/2006/main">
              <a:ext uri="{FF2B5EF4-FFF2-40B4-BE49-F238E27FC236}">
                <a16:creationId xmlns:a16="http://schemas.microsoft.com/office/drawing/2014/main" id="{10147B87-B0D3-425E-B97F-07383DD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24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1</a:t>
            </a:r>
          </a:p>
        </p:txBody>
      </p:sp>
      <p:sp>
        <p:nvSpPr>
          <p:cNvPr id="32" name="row-0-right">
            <a:extLst xmlns:a="http://schemas.openxmlformats.org/drawingml/2006/main">
              <a:ext uri="{FF2B5EF4-FFF2-40B4-BE49-F238E27FC236}">
                <a16:creationId xmlns:a16="http://schemas.microsoft.com/office/drawing/2014/main" id="{3EF6ADD8-FA77-4517-8A16-A4953C0F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771900"/>
            <a:ext cx="4648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Expand BER-first TR38901/Rayleigh data beyond the small training run.</a:t>
            </a:r>
          </a:p>
        </p:txBody>
      </p:sp>
      <p:sp>
        <p:nvSpPr>
          <p:cNvPr id="33" name="row-0-rule">
            <a:extLst xmlns:a="http://schemas.openxmlformats.org/drawingml/2006/main">
              <a:ext uri="{FF2B5EF4-FFF2-40B4-BE49-F238E27FC236}">
                <a16:creationId xmlns:a16="http://schemas.microsoft.com/office/drawing/2014/main" id="{08CE987F-C919-44FC-BD46-EAED923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86250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34" name="row-1-left">
            <a:extLst xmlns:a="http://schemas.openxmlformats.org/drawingml/2006/main">
              <a:ext uri="{FF2B5EF4-FFF2-40B4-BE49-F238E27FC236}">
                <a16:creationId xmlns:a16="http://schemas.microsoft.com/office/drawing/2014/main" id="{2FC030F6-E965-416C-A604-9DAE2A6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57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2</a:t>
            </a:r>
          </a:p>
        </p:txBody>
      </p:sp>
      <p:sp>
        <p:nvSpPr>
          <p:cNvPr id="35" name="row-1-right">
            <a:extLst xmlns:a="http://schemas.openxmlformats.org/drawingml/2006/main">
              <a:ext uri="{FF2B5EF4-FFF2-40B4-BE49-F238E27FC236}">
                <a16:creationId xmlns:a16="http://schemas.microsoft.com/office/drawing/2014/main" id="{26F3513A-4AF2-4AC8-8E6B-43EFEAEF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4305300"/>
            <a:ext cx="4648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Tune reliability targets, active-user labels, and channel-gain projection.</a:t>
            </a:r>
          </a:p>
        </p:txBody>
      </p:sp>
      <p:sp>
        <p:nvSpPr>
          <p:cNvPr id="36" name="row-1-rule">
            <a:extLst xmlns:a="http://schemas.openxmlformats.org/drawingml/2006/main">
              <a:ext uri="{FF2B5EF4-FFF2-40B4-BE49-F238E27FC236}">
                <a16:creationId xmlns:a16="http://schemas.microsoft.com/office/drawing/2014/main" id="{DD58D456-4E2C-4419-AB6F-E7FAF036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00600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37" name="row-2-left">
            <a:extLst xmlns:a="http://schemas.openxmlformats.org/drawingml/2006/main">
              <a:ext uri="{FF2B5EF4-FFF2-40B4-BE49-F238E27FC236}">
                <a16:creationId xmlns:a16="http://schemas.microsoft.com/office/drawing/2014/main" id="{FBC9FD26-B4C7-4533-A1B7-E156D8B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720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3</a:t>
            </a:r>
          </a:p>
        </p:txBody>
      </p:sp>
      <p:sp>
        <p:nvSpPr>
          <p:cNvPr id="38" name="row-2-right">
            <a:extLst xmlns:a="http://schemas.openxmlformats.org/drawingml/2006/main">
              <a:ext uri="{FF2B5EF4-FFF2-40B4-BE49-F238E27FC236}">
                <a16:creationId xmlns:a16="http://schemas.microsoft.com/office/drawing/2014/main" id="{A3A41DB9-2524-4079-8FD5-FBEE1F38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4819650"/>
            <a:ext cx="4648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Re-run the same explicit comparison report and update thesis evidence.</a:t>
            </a:r>
          </a:p>
        </p:txBody>
      </p:sp>
      <p:sp>
        <p:nvSpPr>
          <p:cNvPr id="39" name="row-2-rule">
            <a:extLst xmlns:a="http://schemas.openxmlformats.org/drawingml/2006/main">
              <a:ext uri="{FF2B5EF4-FFF2-40B4-BE49-F238E27FC236}">
                <a16:creationId xmlns:a16="http://schemas.microsoft.com/office/drawing/2014/main" id="{70FB7769-5EC2-469C-9C6C-F839597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34000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4"/>
          </a:solidFill>
          <a:ln xmlns:a="http://schemas.openxmlformats.org/drawingml/2006/main" w="0">
            <a:solidFill>
              <a:srgbClr val="D6CFC4"/>
            </a:solidFill>
            <a:prstDash val="solid"/>
          </a:ln>
        </p:spPr>
      </p:sp>
      <p:sp>
        <p:nvSpPr>
          <p:cNvPr id="40" name="row-3-left">
            <a:extLst xmlns:a="http://schemas.openxmlformats.org/drawingml/2006/main">
              <a:ext uri="{FF2B5EF4-FFF2-40B4-BE49-F238E27FC236}">
                <a16:creationId xmlns:a16="http://schemas.microsoft.com/office/drawing/2014/main" id="{ADAAFED4-0642-478A-8CA1-8E45D0C3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054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4F49"/>
                </a:solidFill>
              </a:defRPr>
            </a:pPr>
            <a:r>
              <a:rPr sz="1350" b="1">
                <a:solidFill>
                  <a:srgbClr val="0A4F49"/>
                </a:solidFill>
              </a:rPr>
              <a:t>4</a:t>
            </a:r>
          </a:p>
        </p:txBody>
      </p:sp>
      <p:sp>
        <p:nvSpPr>
          <p:cNvPr id="41" name="row-3-right">
            <a:extLst xmlns:a="http://schemas.openxmlformats.org/drawingml/2006/main">
              <a:ext uri="{FF2B5EF4-FFF2-40B4-BE49-F238E27FC236}">
                <a16:creationId xmlns:a16="http://schemas.microsoft.com/office/drawing/2014/main" id="{21D17720-CF26-4FF2-B204-10936653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353050"/>
            <a:ext cx="4648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Claim improvement only after ber_drl beats or matches the best BER baseline.</a:t>
            </a:r>
          </a:p>
        </p:txBody>
      </p:sp>
      <p:sp>
        <p:nvSpPr>
          <p:cNvPr id="42" name="source">
            <a:extLst xmlns:a="http://schemas.openxmlformats.org/drawingml/2006/main">
              <a:ext uri="{FF2B5EF4-FFF2-40B4-BE49-F238E27FC236}">
                <a16:creationId xmlns:a16="http://schemas.microsoft.com/office/drawing/2014/main" id="{BB691387-81C5-4BE7-A76F-B5E50D5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5A3"/>
                </a:solidFill>
              </a:defRPr>
            </a:pPr>
            <a:r>
              <a:rPr sz="975">
                <a:solidFill>
                  <a:srgbClr val="8B95A3"/>
                </a:solidFill>
              </a:rPr>
              <a:t>Proof: reports/weekly/2026-05-01_resource_manager_ber_comparison.csv.</a:t>
            </a:r>
          </a:p>
        </p:txBody>
      </p:sp>
    </p:spTree>
    <p:extLst>
      <p:ext uri="{BB962C8B-B14F-4D97-AF65-F5344CB8AC3E}">
        <p14:creationId xmlns:p14="http://schemas.microsoft.com/office/powerpoint/2010/main" val="1063097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2026-05-01T07:53:24.5270000Z</dcterms:created>
  <dcterms:modified xsi:type="dcterms:W3CDTF">2026-05-01T07:53:24.5280000Z</dcterms:modified>
</coreProperties>
</file>