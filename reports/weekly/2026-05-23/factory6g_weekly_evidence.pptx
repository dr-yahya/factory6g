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eeed16a9e4453" /><Relationship Type="http://schemas.openxmlformats.org/officeDocument/2006/relationships/extended-properties" Target="/docProps/app.xml" Id="Rc4054651b12f4fb8" /><Relationship Type="http://schemas.openxmlformats.org/officeDocument/2006/relationships/officeDocument" Target="/ppt/presentation.xml" Id="Rfc38c13ffa4642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b3dbd343448e8"/>
  </p:sldMasterIdLst>
  <p:notesMasterIdLst>
    <p:notesMasterId xmlns:r="http://schemas.openxmlformats.org/officeDocument/2006/relationships" r:id="R29e4a02b6cf54ab3"/>
  </p:notesMasterIdLst>
  <p:sldIdLst>
    <p:sldId xmlns:r="http://schemas.openxmlformats.org/officeDocument/2006/relationships" id="256" r:id="R154ceaed8d1c48aa"/>
    <p:sldId xmlns:r="http://schemas.openxmlformats.org/officeDocument/2006/relationships" id="257" r:id="R483ca1a97e90497a"/>
    <p:sldId xmlns:r="http://schemas.openxmlformats.org/officeDocument/2006/relationships" id="258" r:id="R4c8a5db028ed4c93"/>
    <p:sldId xmlns:r="http://schemas.openxmlformats.org/officeDocument/2006/relationships" id="259" r:id="R06b1752c641c4510"/>
    <p:sldId xmlns:r="http://schemas.openxmlformats.org/officeDocument/2006/relationships" id="260" r:id="R5502f28073a04f0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b3dbd343448e8" /><Relationship Type="http://schemas.openxmlformats.org/officeDocument/2006/relationships/theme" Target="/ppt/theme/theme1.xml" Id="R7a4f6629876040e4" /><Relationship Type="http://schemas.openxmlformats.org/officeDocument/2006/relationships/notesMaster" Target="/ppt/notesMasters/notesMaster1.xml" Id="R29e4a02b6cf54ab3" /><Relationship Type="http://schemas.openxmlformats.org/officeDocument/2006/relationships/presProps" Target="/ppt/presProps.xml" Id="R83032f8b38f64d44" /><Relationship Type="http://schemas.openxmlformats.org/officeDocument/2006/relationships/viewProps" Target="/ppt/viewProps.xml" Id="Rde037b65fa0f4450" /><Relationship Type="http://schemas.openxmlformats.org/officeDocument/2006/relationships/tableStyles" Target="/ppt/tableStyles.xml" Id="R8bac6e23342840e9" /><Relationship Type="http://schemas.openxmlformats.org/officeDocument/2006/relationships/slide" Target="/ppt/slides/slide1.xml" Id="R154ceaed8d1c48aa" /><Relationship Type="http://schemas.openxmlformats.org/officeDocument/2006/relationships/slide" Target="/ppt/slides/slide2.xml" Id="R483ca1a97e90497a" /><Relationship Type="http://schemas.openxmlformats.org/officeDocument/2006/relationships/slide" Target="/ppt/slides/slide3.xml" Id="R4c8a5db028ed4c93" /><Relationship Type="http://schemas.openxmlformats.org/officeDocument/2006/relationships/slide" Target="/ppt/slides/slide4.xml" Id="R06b1752c641c4510" /><Relationship Type="http://schemas.openxmlformats.org/officeDocument/2006/relationships/slide" Target="/ppt/slides/slide5.xml" Id="R5502f28073a0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c5f4f41604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9f883ae124a18" /><Relationship Type="http://schemas.openxmlformats.org/officeDocument/2006/relationships/notesMaster" Target="/ppt/notesMasters/notesMaster1.xml" Id="Reb4e9403160b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996aa9d034380" /><Relationship Type="http://schemas.openxmlformats.org/officeDocument/2006/relationships/notesMaster" Target="/ppt/notesMasters/notesMaster1.xml" Id="Ra1a861cdde7449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1b5a5050e4931" /><Relationship Type="http://schemas.openxmlformats.org/officeDocument/2006/relationships/notesMaster" Target="/ppt/notesMasters/notesMaster1.xml" Id="R21bec17475224e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2c1d3df28461f" /><Relationship Type="http://schemas.openxmlformats.org/officeDocument/2006/relationships/notesMaster" Target="/ppt/notesMasters/notesMaster1.xml" Id="Rd7601599ec304c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bd8078f4324de1" /><Relationship Type="http://schemas.openxmlformats.org/officeDocument/2006/relationships/notesMaster" Target="/ppt/notesMasters/notesMaster1.xml" Id="R623473581475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0c4a6560a4bf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e0511c3838147ac" /><Relationship Type="http://schemas.openxmlformats.org/officeDocument/2006/relationships/slideLayout" Target="/ppt/slideLayouts/slideLayout2.xml" Id="R41c93eba86ab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93eba86ab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9dc400d9e04587" /><Relationship Type="http://schemas.openxmlformats.org/officeDocument/2006/relationships/image" Target="/ppt/media/image.png" Id="Rd97f0d44aba5440e" /><Relationship Type="http://schemas.openxmlformats.org/officeDocument/2006/relationships/notesSlide" Target="/ppt/notesSlides/notesSlide1.xml" Id="Rfaffb39571f6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e1d607244488a" /><Relationship Type="http://schemas.openxmlformats.org/officeDocument/2006/relationships/image" Target="/ppt/media/image2.png" Id="Raa508bfeb01e410f" /><Relationship Type="http://schemas.openxmlformats.org/officeDocument/2006/relationships/notesSlide" Target="/ppt/notesSlides/notesSlide2.xml" Id="R5028d5595cbf4f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a94cbf3024061" /><Relationship Type="http://schemas.openxmlformats.org/officeDocument/2006/relationships/image" Target="/ppt/media/image3.png" Id="R3fec8b09e4cc4fb5" /><Relationship Type="http://schemas.openxmlformats.org/officeDocument/2006/relationships/notesSlide" Target="/ppt/notesSlides/notesSlide3.xml" Id="R02a5e0c9bbd845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682395f334956" /><Relationship Type="http://schemas.openxmlformats.org/officeDocument/2006/relationships/image" Target="/ppt/media/image4.png" Id="Rc413fa158d1d4de2" /><Relationship Type="http://schemas.openxmlformats.org/officeDocument/2006/relationships/notesSlide" Target="/ppt/notesSlides/notesSlide4.xml" Id="Rcc6001e4e87c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497ca0806c49c5" /><Relationship Type="http://schemas.openxmlformats.org/officeDocument/2006/relationships/image" Target="/ppt/media/image5.png" Id="Rfb2c258e912b47be" /><Relationship Type="http://schemas.openxmlformats.org/officeDocument/2006/relationships/notesSlide" Target="/ppt/notesSlides/notesSlide5.xml" Id="R2117c0b532b64b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ADA56-65E7-4F8B-ABF9-53801E9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8FF73-43C9-4043-81F8-E94AF762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EFF0B-F8D7-45AE-9A53-E46E52E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EE108-2A1A-4859-9003-51CD4E3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528DF-EABA-4A45-9B98-C930780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Weekly evidence</a:t>
            </a:r>
          </a:p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23 May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4D978-706F-4B30-A9FF-D2855C4E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Cross-channel resource-manager screening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47CB1-391B-4C01-BAFC-3B48FB6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benchmark now compares the BER-first trained policy against all baseline schedulers under Rayleigh, Rician, and UMI/TR38901 channels.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05692-9116-4086-B8E0-1DC71C6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D1C88-D106-49AA-8941-F4C2ACE7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channel environments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C3DC6-D018-4CAF-A6E6-E3DA4D6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89C27-5AEE-4DC1-BD74-45F5747E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resource managers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54CAF-6375-4160-952C-ACC94999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288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78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97817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F541C-AC72-4CB8-B800-E905342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batches per Eb/No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99FCE-A130-4BA7-8A4B-226A53D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run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9F732-33D2-48DF-8BAC-1DEF2B5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20260523_173452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BC57E-659C-450A-8350-342E71D3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CD4A2-D2AA-4CDB-A407-843A29C9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EFA45-87D9-4640-B9C8-5E7BD09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static, round_robin, max_throughput, pf, wmmse, queue_aware, drl, ber_drl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FC21B-FF4E-44D7-98A7-BCCCE8C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AF24F-0AD2-445D-BC1E-A6AE3709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8A549-8C24-48C0-BC62-5A9118AF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482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stage_results_v2 + summary_v2 from the completed Docker simulation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C6DD2-43A8-4835-AD53-6F5DA49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C75D0-CF48-4213-B406-25685773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607BC-20FF-4274-AC66-DB9FC41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1500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screening run; zero-error points are interpreted through BER upper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3108A2-0A8F-4602-BB6B-AD85D93F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C6671-3A8F-4A48-953B-98358B92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76500"/>
            <a:ext cx="6953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14417-3212-4571-BBDD-B77C731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Real overview BER proof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f0d44aba5440e"/>
          <a:stretch xmlns:a="http://schemas.openxmlformats.org/drawingml/2006/main"/>
        </p:blipFill>
        <p:spPr>
          <a:xfrm xmlns:a="http://schemas.openxmlformats.org/drawingml/2006/main">
            <a:off x="7824788" y="3028950"/>
            <a:ext cx="6257925" cy="41719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C244B-E3A1-4CA7-B0DE-E89E984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1257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90A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90A3"/>
                </a:solidFill>
                <a:latin typeface="Aptos"/>
                <a:ea typeface="Aptos"/>
                <a:cs typeface="Aptos"/>
              </a:rPr>
              <a:t>Proof: Completed run directory, overview BER plot, and resource-manager stage outputs.</a:t>
            </a:r>
          </a:p>
        </p:txBody>
      </p:sp>
    </p:spTree>
    <p:extLst>
      <p:ext uri="{BB962C8B-B14F-4D97-AF65-F5344CB8AC3E}">
        <p14:creationId xmlns:p14="http://schemas.microsoft.com/office/powerpoint/2010/main" val="17559685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7E493-F8DA-4A75-810D-62B71207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B96C8-F064-4136-9D99-F0EBFC33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3AAE4-A66D-4FAB-9738-20E977F9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198FC-B495-4B8B-93B5-10D04BD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78693-A67E-4E24-A462-A87CFC0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Weekly evidence</a:t>
            </a:r>
          </a:p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23 May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4459C-B877-4ACE-9D03-29C334F7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Rayleigh screening: ber_drl matched the zero-error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7C05-D90A-456E-8D92-79251D82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trained BER-first policy reached mean BER 0 in the short run, matching the best baseline by BER and upper-confidence bound.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EC039-EC3E-49B1-8D68-3AF3AB5C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486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B63A9-6E33-4B93-AF19-12492B9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66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Rayleigh BER proof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08bfeb01e410f"/>
          <a:stretch xmlns:a="http://schemas.openxmlformats.org/drawingml/2006/main"/>
        </p:blipFill>
        <p:spPr>
          <a:xfrm xmlns:a="http://schemas.openxmlformats.org/drawingml/2006/main">
            <a:off x="1581150" y="3028950"/>
            <a:ext cx="6257925" cy="4171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9257A-8EB1-4A59-9A4D-3023F94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6464E-771E-4763-919A-462485F6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 mean 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E77C-F520-414F-B928-3A707D0D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rPr>
              <a:t>2.4379e-06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4111-8463-474D-AAC2-BD3EDE9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BER upper bound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6BCB7-82B5-4B5B-B2DE-A8ACA52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96DA1-539D-4F9F-A37D-1E8954D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58CCF-F882-47DA-A9C2-210D48E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857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A118-7B5A-4054-9CAB-6AA8183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814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69323-ECAA-4533-9A27-BF82E0F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56F3D-A0DB-448F-BA8A-7179C971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338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4CF45-D31A-4BF2-904D-13A31FBF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3338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queue_aware: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06ED0-6E35-4373-B1A5-D30242C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B17A6-AE9F-4A39-8454-8B199BFE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10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 upper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19660-3B27-46CF-A6B1-7B4B12D3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910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2.4379e-06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77311-2085-4226-84B7-536907E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7910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2.4379e-06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4A6A6-E816-4E9C-9994-1EC0302E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6664C-4BC7-4047-92E8-8EBEF35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482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705F5-2745-4D29-881A-7B03308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482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#4 of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A1FBF-F5D0-4FE5-A38C-CA4F04FA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2482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#1 queue_aware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0E55E-5038-4A52-882D-58A32129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102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E9185-2CF5-468F-AC41-FE08AEE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054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3142D-ADD8-432E-887A-B143931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054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66.95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7B24F8-5F8B-4DEE-924B-F41565CC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054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65.89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E7223-0009-4A47-A981-3C16960A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674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89997-EEDB-4402-BF89-6CA4B93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04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Rayleigh is operationally stable for ber_drl, but the short run cannot prove a true zero-BER improvement.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6FF150-8B83-415F-9489-7640FDE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1257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90A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90A3"/>
                </a:solidFill>
                <a:latin typeface="Aptos"/>
                <a:ea typeface="Aptos"/>
                <a:cs typeface="Aptos"/>
              </a:rPr>
              <a:t>Proof: Rayleigh resource_manager BER plot and 23 May resource_manager_ber_comparison.csv.</a:t>
            </a:r>
          </a:p>
        </p:txBody>
      </p:sp>
    </p:spTree>
    <p:extLst>
      <p:ext uri="{BB962C8B-B14F-4D97-AF65-F5344CB8AC3E}">
        <p14:creationId xmlns:p14="http://schemas.microsoft.com/office/powerpoint/2010/main" val="800465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5E088-185B-451E-B13E-DC7A8D9F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348E8-07BE-4CB9-85E9-E01260A9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982B3-1203-4213-B2FD-49585D3C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06C2D-019D-4A31-9086-67536125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0601B-1DD5-44D0-BE18-8954FCC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Weekly evidence</a:t>
            </a:r>
          </a:p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23 May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3F532-6982-4C4C-932F-529C24D9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Rician screening: ber_drl ranked second behind max_throughput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DDBCB-16E8-4DD2-A2C9-53AEE08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Rician channel is the clearest near-term target for the next BER-first policy tuning pass.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798E4-B8CB-4101-AEC7-12DC0F1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486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A4F57-EC23-4401-9A10-0ED6347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66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Rician BER proof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c8b09e4cc4fb5"/>
          <a:stretch xmlns:a="http://schemas.openxmlformats.org/drawingml/2006/main"/>
        </p:blipFill>
        <p:spPr>
          <a:xfrm xmlns:a="http://schemas.openxmlformats.org/drawingml/2006/main">
            <a:off x="1581150" y="3028950"/>
            <a:ext cx="6257925" cy="4171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11540-3075-41B3-A6DF-BA177B9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1.8200e-05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E33FB-C028-4F75-B87D-8E7C0E35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 mean 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62E55-F831-4670-B7CE-55972B69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781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97817"/>
                </a:solidFill>
                <a:latin typeface="Aptos Display"/>
                <a:ea typeface="Aptos Display"/>
                <a:cs typeface="Aptos Display"/>
              </a:rPr>
              <a:t>#2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D5A99-D44F-44FE-AAE3-80C19AD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rank of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8C0C5-ADCB-4250-89A4-AC16DB5D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65CB1-0928-48F9-8775-004B6C2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CEDE9-4850-4AC2-8384-C790CFB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857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24CE6-FA30-49DC-A510-F188014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814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1A2C3-A789-40AC-B63C-1C08741D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29206-D0B8-4B7B-AC30-FA982746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338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1.8200e-05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208D8-F094-454E-9338-6FCA13C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3338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max_throughput: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33851-D379-495F-A8CE-56A8EC62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229EA-1104-4506-8C48-BB6D3E1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10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 upper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98BCD-5D80-4A8C-BFC3-BE26683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910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2.2427e-05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4D7B6-6BAB-4660-8FEC-E0078A90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7910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2.4379e-06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D6656-61D8-45FC-A154-01224747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8B6FD-54E0-404D-A3D2-BBC0F859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482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BA53A-9C69-4E06-B2CF-9F0F46D0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482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275.60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45B21-6F69-4344-AF14-D64D2680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2482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276.11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D060E-0D11-4BBA-B3C0-BF6AE79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102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883CB7-FA3E-4F20-9412-DCD16D21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054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86B02-20ED-4503-875A-F6199B4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054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66.53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C670FC-59F6-4340-A80E-D995EE7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054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65.61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C9A07C-8B49-418E-A5BE-6C148273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674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060B0-1E0A-4A49-B6A3-8FF6F85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04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ber_drl is competitive on latency, but reliability still needs tuning against the zero-error baseline.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A4069-5D15-439D-9DAD-821C6F1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1257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90A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90A3"/>
                </a:solidFill>
                <a:latin typeface="Aptos"/>
                <a:ea typeface="Aptos"/>
                <a:cs typeface="Aptos"/>
              </a:rPr>
              <a:t>Proof: Rician resource_manager BER plot and 23 May resource_manager_ber_comparison.csv.</a:t>
            </a:r>
          </a:p>
        </p:txBody>
      </p:sp>
    </p:spTree>
    <p:extLst>
      <p:ext uri="{BB962C8B-B14F-4D97-AF65-F5344CB8AC3E}">
        <p14:creationId xmlns:p14="http://schemas.microsoft.com/office/powerpoint/2010/main" val="13298704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F224D-925F-4B0D-9027-0A99F6A1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CE1DC-D6F1-4BF3-B098-B03CB90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C88FA-7E6B-40F3-8F9A-FAC31D0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D7FB-5AFC-456F-8D7E-88A719B4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F3A1D-3C7A-4B79-9FC4-7A06E4DA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Weekly evidence</a:t>
            </a:r>
          </a:p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23 May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E485C-7923-459C-9F41-D44D9909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UMI/TR38901: ber_drl is close to queue_aware but not max_throughput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AFA91-745A-40B7-B12D-36CF733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 the 3GPP factory-like channel, the BER-first policy is near the strongest non-zero baseline but still behind the zero-error scheduler.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754BD-93F9-4F24-99AC-01049AFF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486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B4D0-4D1E-4888-8042-2F36A8B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66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UMI/TR38901 BER proof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3fa158d1d4de2"/>
          <a:stretch xmlns:a="http://schemas.openxmlformats.org/drawingml/2006/main"/>
        </p:blipFill>
        <p:spPr>
          <a:xfrm xmlns:a="http://schemas.openxmlformats.org/drawingml/2006/main">
            <a:off x="1581150" y="3028950"/>
            <a:ext cx="6257925" cy="4171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F4E92-37D5-4620-9ED0-FBBB8B1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2.6042e-05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F3F76-4451-4A08-BE6E-DB9A5B1A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 mean 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CBF44-52B8-4A72-9796-49BB9968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F5F8B"/>
                </a:solidFill>
                <a:latin typeface="Aptos Display"/>
                <a:ea typeface="Aptos Display"/>
                <a:cs typeface="Aptos Display"/>
              </a:rPr>
              <a:t>2.6190e-05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0AE6A-9918-4049-A235-6A566747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queue_aware 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AD455-E0A6-42F7-B762-E4D0A03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2FF8F-DFA1-42C1-B6BA-594123E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576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ber_drl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19059-57F8-4419-AD92-7D5DF213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8576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F9F32-40DD-46EC-9DAD-FAFB12F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814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783AC-1330-4D2D-9A8B-6286AC6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5AA0E-9A88-4BCA-891F-E0FAC89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338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2.6042e-05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5DC8C-5A69-4E92-9C12-E054CF0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33387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queue_aware: 2.6190e-05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4C00B-8F06-40FA-8979-96D3151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958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BE67D-E5D8-46CD-99FB-B30CE15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10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BER upper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E211B-077F-41C2-9F78-47AD73A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910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3.1064e-05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7BCCF-689C-47F0-92F1-08CFE9F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79107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queue_aware: 3.1273e-05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50840-1EC0-4F3D-B80F-D2C041A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8DCFB-C80A-45CD-AB96-84F668C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482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60D09-D77D-47B5-A800-B362E022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482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#2 of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D8E9D-1957-4BB5-B922-652A5FA9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24827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max_throughput is #1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5AC0CB-4D3E-45E4-9353-BC990D9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102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02C8B-AF80-46E4-BB3B-64219503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054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574F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537B68-5758-40DF-B658-22203F65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054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275.90 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A439B-7406-444C-8234-7E9E0D44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0547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queue_aware: 275.10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122A4-5071-4A8E-BD5D-CC8A58FB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6742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D04E83-6F28-49C4-B2C5-740575B8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04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UMI/TR38901 is close enough to justify a longer benchmark and policy retuning before making an improvement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1F652B-EBE8-4DD6-BEAA-A62BA3EA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1257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90A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90A3"/>
                </a:solidFill>
                <a:latin typeface="Aptos"/>
                <a:ea typeface="Aptos"/>
                <a:cs typeface="Aptos"/>
              </a:rPr>
              <a:t>Proof: TR38901 resource_manager BER plot and 23 May resource_manager_ber_comparison.csv.</a:t>
            </a:r>
          </a:p>
        </p:txBody>
      </p:sp>
    </p:spTree>
    <p:extLst>
      <p:ext uri="{BB962C8B-B14F-4D97-AF65-F5344CB8AC3E}">
        <p14:creationId xmlns:p14="http://schemas.microsoft.com/office/powerpoint/2010/main" val="3762881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E4CB3-BA19-443D-85C1-76864643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61040-4FBF-4463-97F2-1DB3DF3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37DD5-E29F-4650-9F9A-91957E73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1AC37-7F9B-4A32-AA65-E5354740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47413-8B43-40E0-8AE9-4EEA06B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8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Weekly evidence</a:t>
            </a:r>
          </a:p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23 May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DC749-A5FE-4816-8495-0D4DD529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23 May report package is ready for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9523E-FB77-4A0B-BF65-4233B044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folder now contains only the report bundle files: messages, evidence deck, previews, BER report, and CSV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2E293-4104-4B7E-B240-A0C98C2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048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DF21D-916D-440B-B075-3DD8875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Presentation curve proof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c258e912b47be"/>
          <a:stretch xmlns:a="http://schemas.openxmlformats.org/drawingml/2006/main"/>
        </p:blipFill>
        <p:spPr>
          <a:xfrm xmlns:a="http://schemas.openxmlformats.org/drawingml/2006/main">
            <a:off x="1223963" y="3028950"/>
            <a:ext cx="5972175" cy="3981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C2553-D366-420E-A5FE-9E0C953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619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872D8-2662-44A3-8A6A-13AACA4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AA825-F087-48B7-AFA5-6AB21101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D255E-4FF4-4190-A224-E63B141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95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factory6g_weekly_messages.md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D3E6E-05D9-4917-BDCA-52939380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870B0-94FD-4D08-A168-CDF34DE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slides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94ECB-E745-4C98-8320-7D89105A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671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factory6g_weekly_evidence.pptx + previews/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247DE-6A2F-4444-8C58-4BB699BA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9A0B3-649B-4AF4-8A23-4B90006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report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03868-4B41-49C8-9246-9C82AE3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38625"/>
            <a:ext cx="3095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resource_manager_ber_comparison.md + 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DF9C7-8D78-439C-9FFA-7067361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3867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B1B5E-D529-4ED7-8779-364DBD4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6191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10587-9D74-43F5-B049-B561BEB4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72075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7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74F"/>
                </a:solidFill>
                <a:latin typeface="Aptos"/>
                <a:ea typeface="Aptos"/>
                <a:cs typeface="Aptos"/>
              </a:rPr>
              <a:t>Next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B01BF-27DD-4179-B6D4-226F687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43550"/>
            <a:ext cx="54768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Re-run the cross-channel benchmark with longer Monte Carlo settings.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Tune ber_drl against the Rician and UMI/TR38901 reliability gaps.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Update the thesis evidence only after longer-run confirmation.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12BF9-FB31-4450-8017-207E51E1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1257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190A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190A3"/>
                </a:solidFill>
                <a:latin typeface="Aptos"/>
                <a:ea typeface="Aptos"/>
                <a:cs typeface="Aptos"/>
              </a:rPr>
              <a:t>Proof: Clean report folder, synthetic presentation curve, and generated weekly message drafts.</a:t>
            </a:r>
          </a:p>
        </p:txBody>
      </p:sp>
    </p:spTree>
    <p:extLst>
      <p:ext uri="{BB962C8B-B14F-4D97-AF65-F5344CB8AC3E}">
        <p14:creationId xmlns:p14="http://schemas.microsoft.com/office/powerpoint/2010/main" val="1630302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2026-05-24T06:57:36.0740000Z</dcterms:created>
  <dcterms:modified xsi:type="dcterms:W3CDTF">2026-05-24T06:57:36.0740000Z</dcterms:modified>
</coreProperties>
</file>